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Bold Ink" charset="1" panose="00000500000000000000"/>
      <p:regular r:id="rId32"/>
    </p:embeddedFont>
    <p:embeddedFont>
      <p:font typeface="Akzidenz-Grotesk" charset="1" panose="02000503030000020003"/>
      <p:regular r:id="rId33"/>
    </p:embeddedFont>
    <p:embeddedFont>
      <p:font typeface="Open Sans" charset="1" panose="020B0606030504020204"/>
      <p:regular r:id="rId34"/>
    </p:embeddedFont>
    <p:embeddedFont>
      <p:font typeface="Open Sans Bold" charset="1" panose="020B0806030504020204"/>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15177" y="7433767"/>
            <a:ext cx="9430353" cy="4715177"/>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456827" y="10338182"/>
            <a:ext cx="4661316" cy="2330658"/>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4966490" y="-1328888"/>
            <a:ext cx="9430353" cy="4715177"/>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5583791" y="-2142757"/>
            <a:ext cx="4661316" cy="2330658"/>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4067202" y="9359478"/>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1166334" y="-824125"/>
            <a:ext cx="3726595" cy="1863298"/>
            <a:chOff x="0" y="0"/>
            <a:chExt cx="812800" cy="406400"/>
          </a:xfrm>
        </p:grpSpPr>
        <p:sp>
          <p:nvSpPr>
            <p:cNvPr name="Freeform 18" id="18"/>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3029631" y="2592881"/>
            <a:ext cx="12228738" cy="5031030"/>
          </a:xfrm>
          <a:prstGeom prst="rect">
            <a:avLst/>
          </a:prstGeom>
        </p:spPr>
        <p:txBody>
          <a:bodyPr anchor="t" rtlCol="false" tIns="0" lIns="0" bIns="0" rIns="0">
            <a:spAutoFit/>
          </a:bodyPr>
          <a:lstStyle/>
          <a:p>
            <a:pPr algn="ctr">
              <a:lnSpc>
                <a:spcPts val="12784"/>
              </a:lnSpc>
            </a:pPr>
            <a:r>
              <a:rPr lang="en-US" sz="15041">
                <a:solidFill>
                  <a:srgbClr val="545454"/>
                </a:solidFill>
                <a:latin typeface="Bold Ink"/>
                <a:ea typeface="Bold Ink"/>
                <a:cs typeface="Bold Ink"/>
                <a:sym typeface="Bold Ink"/>
              </a:rPr>
              <a:t> PROJECT</a:t>
            </a:r>
          </a:p>
          <a:p>
            <a:pPr algn="ctr">
              <a:lnSpc>
                <a:spcPts val="12784"/>
              </a:lnSpc>
            </a:pPr>
            <a:r>
              <a:rPr lang="en-US" sz="15041">
                <a:solidFill>
                  <a:srgbClr val="545454"/>
                </a:solidFill>
                <a:latin typeface="Bold Ink"/>
                <a:ea typeface="Bold Ink"/>
                <a:cs typeface="Bold Ink"/>
                <a:sym typeface="Bold Ink"/>
              </a:rPr>
              <a:t>PEMESANAN HOTEL</a:t>
            </a:r>
          </a:p>
        </p:txBody>
      </p:sp>
      <p:sp>
        <p:nvSpPr>
          <p:cNvPr name="TextBox 21" id="21"/>
          <p:cNvSpPr txBox="true"/>
          <p:nvPr/>
        </p:nvSpPr>
        <p:spPr>
          <a:xfrm rot="0">
            <a:off x="4050290" y="8239509"/>
            <a:ext cx="10187420" cy="966290"/>
          </a:xfrm>
          <a:prstGeom prst="rect">
            <a:avLst/>
          </a:prstGeom>
        </p:spPr>
        <p:txBody>
          <a:bodyPr anchor="t" rtlCol="false" tIns="0" lIns="0" bIns="0" rIns="0">
            <a:spAutoFit/>
          </a:bodyPr>
          <a:lstStyle/>
          <a:p>
            <a:pPr algn="ctr">
              <a:lnSpc>
                <a:spcPts val="7114"/>
              </a:lnSpc>
              <a:spcBef>
                <a:spcPct val="0"/>
              </a:spcBef>
            </a:pPr>
            <a:r>
              <a:rPr lang="en-US" sz="5082">
                <a:solidFill>
                  <a:srgbClr val="61654D"/>
                </a:solidFill>
                <a:latin typeface="Akzidenz-Grotesk"/>
                <a:ea typeface="Akzidenz-Grotesk"/>
                <a:cs typeface="Akzidenz-Grotesk"/>
                <a:sym typeface="Akzidenz-Grotesk"/>
              </a:rPr>
              <a:t>Kelompok 13</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63849" y="7784323"/>
            <a:ext cx="8132490" cy="4066245"/>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5760647" y="-1537845"/>
            <a:ext cx="8664509" cy="4332254"/>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1610027" y="-1189519"/>
            <a:ext cx="3726595" cy="1863298"/>
            <a:chOff x="0" y="0"/>
            <a:chExt cx="812800" cy="406400"/>
          </a:xfrm>
        </p:grpSpPr>
        <p:sp>
          <p:nvSpPr>
            <p:cNvPr name="Freeform 18" id="18"/>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3076846" y="2421648"/>
            <a:ext cx="12127038" cy="990381"/>
          </a:xfrm>
          <a:prstGeom prst="rect">
            <a:avLst/>
          </a:prstGeom>
        </p:spPr>
        <p:txBody>
          <a:bodyPr anchor="t" rtlCol="false" tIns="0" lIns="0" bIns="0" rIns="0">
            <a:spAutoFit/>
          </a:bodyPr>
          <a:lstStyle/>
          <a:p>
            <a:pPr algn="ctr">
              <a:lnSpc>
                <a:spcPts val="7099"/>
              </a:lnSpc>
            </a:pPr>
            <a:r>
              <a:rPr lang="en-US" sz="8352">
                <a:solidFill>
                  <a:srgbClr val="545454"/>
                </a:solidFill>
                <a:latin typeface="Bold Ink"/>
                <a:ea typeface="Bold Ink"/>
                <a:cs typeface="Bold Ink"/>
                <a:sym typeface="Bold Ink"/>
              </a:rPr>
              <a:t>ANGGOTA KELOMPOK</a:t>
            </a:r>
          </a:p>
        </p:txBody>
      </p:sp>
      <p:sp>
        <p:nvSpPr>
          <p:cNvPr name="TextBox 21" id="21"/>
          <p:cNvSpPr txBox="true"/>
          <p:nvPr/>
        </p:nvSpPr>
        <p:spPr>
          <a:xfrm rot="0">
            <a:off x="4285043" y="4421680"/>
            <a:ext cx="11287421" cy="805634"/>
          </a:xfrm>
          <a:prstGeom prst="rect">
            <a:avLst/>
          </a:prstGeom>
        </p:spPr>
        <p:txBody>
          <a:bodyPr anchor="t" rtlCol="false" tIns="0" lIns="0" bIns="0" rIns="0">
            <a:spAutoFit/>
          </a:bodyPr>
          <a:lstStyle/>
          <a:p>
            <a:pPr algn="l">
              <a:lnSpc>
                <a:spcPts val="5994"/>
              </a:lnSpc>
              <a:spcBef>
                <a:spcPct val="0"/>
              </a:spcBef>
            </a:pPr>
            <a:r>
              <a:rPr lang="en-US" sz="4282">
                <a:solidFill>
                  <a:srgbClr val="61654D"/>
                </a:solidFill>
                <a:latin typeface="Akzidenz-Grotesk"/>
                <a:ea typeface="Akzidenz-Grotesk"/>
                <a:cs typeface="Akzidenz-Grotesk"/>
                <a:sym typeface="Akzidenz-Grotesk"/>
              </a:rPr>
              <a:t>Reza Saputra                              20230810114</a:t>
            </a:r>
          </a:p>
        </p:txBody>
      </p:sp>
      <p:sp>
        <p:nvSpPr>
          <p:cNvPr name="TextBox 22" id="22"/>
          <p:cNvSpPr txBox="true"/>
          <p:nvPr/>
        </p:nvSpPr>
        <p:spPr>
          <a:xfrm rot="0">
            <a:off x="3349500" y="4716955"/>
            <a:ext cx="752846" cy="510359"/>
          </a:xfrm>
          <a:prstGeom prst="rect">
            <a:avLst/>
          </a:prstGeom>
        </p:spPr>
        <p:txBody>
          <a:bodyPr anchor="t" rtlCol="false" tIns="0" lIns="0" bIns="0" rIns="0">
            <a:spAutoFit/>
          </a:bodyPr>
          <a:lstStyle/>
          <a:p>
            <a:pPr algn="ctr">
              <a:lnSpc>
                <a:spcPts val="3600"/>
              </a:lnSpc>
            </a:pPr>
            <a:r>
              <a:rPr lang="en-US" sz="4235">
                <a:solidFill>
                  <a:srgbClr val="545454"/>
                </a:solidFill>
                <a:latin typeface="Bold Ink"/>
                <a:ea typeface="Bold Ink"/>
                <a:cs typeface="Bold Ink"/>
                <a:sym typeface="Bold Ink"/>
              </a:rPr>
              <a:t>1</a:t>
            </a:r>
          </a:p>
        </p:txBody>
      </p:sp>
      <p:sp>
        <p:nvSpPr>
          <p:cNvPr name="TextBox 23" id="23"/>
          <p:cNvSpPr txBox="true"/>
          <p:nvPr/>
        </p:nvSpPr>
        <p:spPr>
          <a:xfrm rot="0">
            <a:off x="3349500" y="5626244"/>
            <a:ext cx="752846" cy="510359"/>
          </a:xfrm>
          <a:prstGeom prst="rect">
            <a:avLst/>
          </a:prstGeom>
        </p:spPr>
        <p:txBody>
          <a:bodyPr anchor="t" rtlCol="false" tIns="0" lIns="0" bIns="0" rIns="0">
            <a:spAutoFit/>
          </a:bodyPr>
          <a:lstStyle/>
          <a:p>
            <a:pPr algn="ctr">
              <a:lnSpc>
                <a:spcPts val="3600"/>
              </a:lnSpc>
            </a:pPr>
            <a:r>
              <a:rPr lang="en-US" sz="4235">
                <a:solidFill>
                  <a:srgbClr val="545454"/>
                </a:solidFill>
                <a:latin typeface="Bold Ink"/>
                <a:ea typeface="Bold Ink"/>
                <a:cs typeface="Bold Ink"/>
                <a:sym typeface="Bold Ink"/>
              </a:rPr>
              <a:t>2</a:t>
            </a:r>
          </a:p>
        </p:txBody>
      </p:sp>
      <p:sp>
        <p:nvSpPr>
          <p:cNvPr name="TextBox 24" id="24"/>
          <p:cNvSpPr txBox="true"/>
          <p:nvPr/>
        </p:nvSpPr>
        <p:spPr>
          <a:xfrm rot="0">
            <a:off x="4285043" y="5330969"/>
            <a:ext cx="11287421" cy="805634"/>
          </a:xfrm>
          <a:prstGeom prst="rect">
            <a:avLst/>
          </a:prstGeom>
        </p:spPr>
        <p:txBody>
          <a:bodyPr anchor="t" rtlCol="false" tIns="0" lIns="0" bIns="0" rIns="0">
            <a:spAutoFit/>
          </a:bodyPr>
          <a:lstStyle/>
          <a:p>
            <a:pPr algn="l">
              <a:lnSpc>
                <a:spcPts val="5994"/>
              </a:lnSpc>
              <a:spcBef>
                <a:spcPct val="0"/>
              </a:spcBef>
            </a:pPr>
            <a:r>
              <a:rPr lang="en-US" sz="4282">
                <a:solidFill>
                  <a:srgbClr val="61654D"/>
                </a:solidFill>
                <a:latin typeface="Akzidenz-Grotesk"/>
                <a:ea typeface="Akzidenz-Grotesk"/>
                <a:cs typeface="Akzidenz-Grotesk"/>
                <a:sym typeface="Akzidenz-Grotesk"/>
              </a:rPr>
              <a:t>Muhammad Rizal Nurfirdaus       20230810088</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63849" y="7784323"/>
            <a:ext cx="8132490" cy="4066245"/>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6976373" y="-2013187"/>
            <a:ext cx="7262927" cy="4332254"/>
            <a:chOff x="0" y="0"/>
            <a:chExt cx="681320" cy="406400"/>
          </a:xfrm>
        </p:grpSpPr>
        <p:sp>
          <p:nvSpPr>
            <p:cNvPr name="Freeform 9" id="9"/>
            <p:cNvSpPr/>
            <p:nvPr/>
          </p:nvSpPr>
          <p:spPr>
            <a:xfrm flipH="false" flipV="false" rot="0">
              <a:off x="0" y="0"/>
              <a:ext cx="681320" cy="406400"/>
            </a:xfrm>
            <a:custGeom>
              <a:avLst/>
              <a:gdLst/>
              <a:ahLst/>
              <a:cxnLst/>
              <a:rect r="r" b="b" t="t" l="l"/>
              <a:pathLst>
                <a:path h="406400" w="681320">
                  <a:moveTo>
                    <a:pt x="478120" y="0"/>
                  </a:moveTo>
                  <a:cubicBezTo>
                    <a:pt x="590345" y="0"/>
                    <a:pt x="681320" y="90976"/>
                    <a:pt x="681320" y="203200"/>
                  </a:cubicBezTo>
                  <a:cubicBezTo>
                    <a:pt x="681320" y="315424"/>
                    <a:pt x="590345" y="406400"/>
                    <a:pt x="47812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68132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1610027" y="-1189519"/>
            <a:ext cx="3726595" cy="1863298"/>
            <a:chOff x="0" y="0"/>
            <a:chExt cx="812800" cy="406400"/>
          </a:xfrm>
        </p:grpSpPr>
        <p:sp>
          <p:nvSpPr>
            <p:cNvPr name="Freeform 18" id="18"/>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2901353" y="1061198"/>
            <a:ext cx="12485294" cy="1027844"/>
          </a:xfrm>
          <a:prstGeom prst="rect">
            <a:avLst/>
          </a:prstGeom>
        </p:spPr>
        <p:txBody>
          <a:bodyPr anchor="t" rtlCol="false" tIns="0" lIns="0" bIns="0" rIns="0">
            <a:spAutoFit/>
          </a:bodyPr>
          <a:lstStyle/>
          <a:p>
            <a:pPr algn="ctr">
              <a:lnSpc>
                <a:spcPts val="7269"/>
              </a:lnSpc>
            </a:pPr>
            <a:r>
              <a:rPr lang="en-US" sz="8552">
                <a:solidFill>
                  <a:srgbClr val="545454"/>
                </a:solidFill>
                <a:latin typeface="Bold Ink"/>
                <a:ea typeface="Bold Ink"/>
                <a:cs typeface="Bold Ink"/>
                <a:sym typeface="Bold Ink"/>
              </a:rPr>
              <a:t>LATAR BELAKANG</a:t>
            </a:r>
          </a:p>
        </p:txBody>
      </p:sp>
      <p:sp>
        <p:nvSpPr>
          <p:cNvPr name="TextBox 21" id="21"/>
          <p:cNvSpPr txBox="true"/>
          <p:nvPr/>
        </p:nvSpPr>
        <p:spPr>
          <a:xfrm rot="0">
            <a:off x="1028700" y="2645830"/>
            <a:ext cx="16230600" cy="3797889"/>
          </a:xfrm>
          <a:prstGeom prst="rect">
            <a:avLst/>
          </a:prstGeom>
        </p:spPr>
        <p:txBody>
          <a:bodyPr anchor="t" rtlCol="false" tIns="0" lIns="0" bIns="0" rIns="0">
            <a:spAutoFit/>
          </a:bodyPr>
          <a:lstStyle/>
          <a:p>
            <a:pPr algn="l">
              <a:lnSpc>
                <a:spcPts val="3817"/>
              </a:lnSpc>
            </a:pPr>
            <a:r>
              <a:rPr lang="en-US" sz="2726">
                <a:solidFill>
                  <a:srgbClr val="545454"/>
                </a:solidFill>
                <a:latin typeface="Open Sans"/>
                <a:ea typeface="Open Sans"/>
                <a:cs typeface="Open Sans"/>
                <a:sym typeface="Open Sans"/>
              </a:rPr>
              <a:t>Industri perhotelan membutuhkan proses pemesanan kamar yang efisien untuk menjaga kepuasan pelanggan, tetapi sistem manual sering menghadapi kendala seperti kesalahan pencatatan dan sulitnya memantau ketersediaan kamar. Aplikasi pemesanan berbasis digital menjadi solusi dengan menawarkan kemudahan, transparansi, dan efisiensi. Dikembangkan menggunakan Java dan NetBeans, aplikasi ini dirancang untuk staf hotel dengan fitur pencatatan data pelanggan, pengecekan ketersediaan kamar real-time, manajemen pesanan, dan pelaporan transaksi. Implementasi aplikasi ini diharapkan meningkatkan efisiensi operasional, mengurangi kesalahan, dan memberikan pengalaman pelanggan yang lebih baik.</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63849" y="7784323"/>
            <a:ext cx="8132490" cy="4066245"/>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5760647" y="-1537845"/>
            <a:ext cx="8664509" cy="4332254"/>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2345726" y="-1477174"/>
            <a:ext cx="2878425" cy="1863298"/>
            <a:chOff x="0" y="0"/>
            <a:chExt cx="627807" cy="406400"/>
          </a:xfrm>
        </p:grpSpPr>
        <p:sp>
          <p:nvSpPr>
            <p:cNvPr name="Freeform 18" id="18"/>
            <p:cNvSpPr/>
            <p:nvPr/>
          </p:nvSpPr>
          <p:spPr>
            <a:xfrm flipH="false" flipV="false" rot="0">
              <a:off x="0" y="0"/>
              <a:ext cx="627807" cy="406400"/>
            </a:xfrm>
            <a:custGeom>
              <a:avLst/>
              <a:gdLst/>
              <a:ahLst/>
              <a:cxnLst/>
              <a:rect r="r" b="b" t="t" l="l"/>
              <a:pathLst>
                <a:path h="406400" w="627807">
                  <a:moveTo>
                    <a:pt x="424607" y="0"/>
                  </a:moveTo>
                  <a:cubicBezTo>
                    <a:pt x="536832" y="0"/>
                    <a:pt x="627807" y="90976"/>
                    <a:pt x="627807" y="203200"/>
                  </a:cubicBezTo>
                  <a:cubicBezTo>
                    <a:pt x="627807" y="315424"/>
                    <a:pt x="536832" y="406400"/>
                    <a:pt x="42460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627807"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0" y="799732"/>
            <a:ext cx="18341978" cy="651938"/>
          </a:xfrm>
          <a:prstGeom prst="rect">
            <a:avLst/>
          </a:prstGeom>
        </p:spPr>
        <p:txBody>
          <a:bodyPr anchor="t" rtlCol="false" tIns="0" lIns="0" bIns="0" rIns="0">
            <a:spAutoFit/>
          </a:bodyPr>
          <a:lstStyle/>
          <a:p>
            <a:pPr algn="ctr">
              <a:lnSpc>
                <a:spcPts val="4634"/>
              </a:lnSpc>
            </a:pPr>
            <a:r>
              <a:rPr lang="en-US" sz="5452">
                <a:solidFill>
                  <a:srgbClr val="545454"/>
                </a:solidFill>
                <a:latin typeface="Bold Ink"/>
                <a:ea typeface="Bold Ink"/>
                <a:cs typeface="Bold Ink"/>
                <a:sym typeface="Bold Ink"/>
              </a:rPr>
              <a:t>KONSEP DASAR PEMPROGAMAN JAVA</a:t>
            </a:r>
          </a:p>
        </p:txBody>
      </p:sp>
      <p:sp>
        <p:nvSpPr>
          <p:cNvPr name="TextBox 21" id="21"/>
          <p:cNvSpPr txBox="true"/>
          <p:nvPr/>
        </p:nvSpPr>
        <p:spPr>
          <a:xfrm rot="0">
            <a:off x="3125802" y="1922831"/>
            <a:ext cx="12036395" cy="7180398"/>
          </a:xfrm>
          <a:prstGeom prst="rect">
            <a:avLst/>
          </a:prstGeom>
        </p:spPr>
        <p:txBody>
          <a:bodyPr anchor="t" rtlCol="false" tIns="0" lIns="0" bIns="0" rIns="0">
            <a:spAutoFit/>
          </a:bodyPr>
          <a:lstStyle/>
          <a:p>
            <a:pPr algn="l">
              <a:lnSpc>
                <a:spcPts val="3755"/>
              </a:lnSpc>
            </a:pPr>
            <a:r>
              <a:rPr lang="en-US" sz="2682">
                <a:solidFill>
                  <a:srgbClr val="61654D"/>
                </a:solidFill>
                <a:latin typeface="Akzidenz-Grotesk"/>
                <a:ea typeface="Akzidenz-Grotesk"/>
                <a:cs typeface="Akzidenz-Grotesk"/>
                <a:sym typeface="Akzidenz-Grotesk"/>
              </a:rPr>
              <a:t> Java adalah bahasa pemrograman berorientasi objek (Object-Oriented Programming/OOP) yang dikembangkan oleh Sun Microsystems pada tahun 1995. Java memiliki sifat platform-independent, artinya program yang ditulis dalam Java dapat dijalankan di berbagai sistem operasi tanpa perlu mengubah kode sumbernya. Hal ini dimungkinkan berkat penggunaan Java Virtual Machine (JVM).  </a:t>
            </a:r>
          </a:p>
          <a:p>
            <a:pPr algn="l">
              <a:lnSpc>
                <a:spcPts val="3755"/>
              </a:lnSpc>
            </a:pPr>
            <a:r>
              <a:rPr lang="en-US" sz="2682">
                <a:solidFill>
                  <a:srgbClr val="61654D"/>
                </a:solidFill>
                <a:latin typeface="Akzidenz-Grotesk"/>
                <a:ea typeface="Akzidenz-Grotesk"/>
                <a:cs typeface="Akzidenz-Grotesk"/>
                <a:sym typeface="Akzidenz-Grotesk"/>
              </a:rPr>
              <a:t>Konsep utama dalam pemrograman Java meliputi:  </a:t>
            </a:r>
          </a:p>
          <a:p>
            <a:pPr algn="l" marL="579076" indent="-289538" lvl="1">
              <a:lnSpc>
                <a:spcPts val="3755"/>
              </a:lnSpc>
              <a:buAutoNum type="arabicPeriod" startAt="1"/>
            </a:pPr>
            <a:r>
              <a:rPr lang="en-US" sz="2682">
                <a:solidFill>
                  <a:srgbClr val="61654D"/>
                </a:solidFill>
                <a:latin typeface="Akzidenz-Grotesk"/>
                <a:ea typeface="Akzidenz-Grotesk"/>
                <a:cs typeface="Akzidenz-Grotesk"/>
                <a:sym typeface="Akzidenz-Grotesk"/>
              </a:rPr>
              <a:t>Kelas dan Objek: Java menggunakan kelas sebagai blueprint untuk membuat objek yang merepresentasikan entitas dalam dunia nyata.   </a:t>
            </a:r>
          </a:p>
          <a:p>
            <a:pPr algn="l" marL="579076" indent="-289538" lvl="1">
              <a:lnSpc>
                <a:spcPts val="3755"/>
              </a:lnSpc>
              <a:buAutoNum type="arabicPeriod" startAt="1"/>
            </a:pPr>
            <a:r>
              <a:rPr lang="en-US" sz="2682">
                <a:solidFill>
                  <a:srgbClr val="61654D"/>
                </a:solidFill>
                <a:latin typeface="Akzidenz-Grotesk"/>
                <a:ea typeface="Akzidenz-Grotesk"/>
                <a:cs typeface="Akzidenz-Grotesk"/>
                <a:sym typeface="Akzidenz-Grotesk"/>
              </a:rPr>
              <a:t>Encapsulation: Konsep ini memungkinkan data dan metode dalam kelas dapat dilindungi sehingga hanya dapat diakses melalui cara tertentu.  </a:t>
            </a:r>
          </a:p>
          <a:p>
            <a:pPr algn="l" marL="579076" indent="-289538" lvl="1">
              <a:lnSpc>
                <a:spcPts val="3755"/>
              </a:lnSpc>
              <a:buAutoNum type="arabicPeriod" startAt="1"/>
            </a:pPr>
            <a:r>
              <a:rPr lang="en-US" sz="2682">
                <a:solidFill>
                  <a:srgbClr val="61654D"/>
                </a:solidFill>
                <a:latin typeface="Akzidenz-Grotesk"/>
                <a:ea typeface="Akzidenz-Grotesk"/>
                <a:cs typeface="Akzidenz-Grotesk"/>
                <a:sym typeface="Akzidenz-Grotesk"/>
              </a:rPr>
              <a:t>Inheritance: Java mendukung pewarisan antar kelas untuk mengurangi redundansi kode dan meningkatkan efisiensi pengembangan.  </a:t>
            </a:r>
          </a:p>
          <a:p>
            <a:pPr algn="l" marL="579076" indent="-289538" lvl="1">
              <a:lnSpc>
                <a:spcPts val="3755"/>
              </a:lnSpc>
              <a:buAutoNum type="arabicPeriod" startAt="1"/>
            </a:pPr>
            <a:r>
              <a:rPr lang="en-US" sz="2682">
                <a:solidFill>
                  <a:srgbClr val="61654D"/>
                </a:solidFill>
                <a:latin typeface="Akzidenz-Grotesk"/>
                <a:ea typeface="Akzidenz-Grotesk"/>
                <a:cs typeface="Akzidenz-Grotesk"/>
                <a:sym typeface="Akzidenz-Grotesk"/>
              </a:rPr>
              <a:t>Polymorphism: Kemampuan suatu objek untuk memiliki banyak bentuk, yang berguna dalam pembuatan program yang fleksibel.  </a:t>
            </a:r>
          </a:p>
          <a:p>
            <a:pPr algn="l">
              <a:lnSpc>
                <a:spcPts val="3755"/>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63849" y="7784323"/>
            <a:ext cx="8132490" cy="4066245"/>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5760647" y="-1537845"/>
            <a:ext cx="8664509" cy="4332254"/>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2345726" y="-1477174"/>
            <a:ext cx="2878425" cy="1863298"/>
            <a:chOff x="0" y="0"/>
            <a:chExt cx="627807" cy="406400"/>
          </a:xfrm>
        </p:grpSpPr>
        <p:sp>
          <p:nvSpPr>
            <p:cNvPr name="Freeform 18" id="18"/>
            <p:cNvSpPr/>
            <p:nvPr/>
          </p:nvSpPr>
          <p:spPr>
            <a:xfrm flipH="false" flipV="false" rot="0">
              <a:off x="0" y="0"/>
              <a:ext cx="627807" cy="406400"/>
            </a:xfrm>
            <a:custGeom>
              <a:avLst/>
              <a:gdLst/>
              <a:ahLst/>
              <a:cxnLst/>
              <a:rect r="r" b="b" t="t" l="l"/>
              <a:pathLst>
                <a:path h="406400" w="627807">
                  <a:moveTo>
                    <a:pt x="424607" y="0"/>
                  </a:moveTo>
                  <a:cubicBezTo>
                    <a:pt x="536832" y="0"/>
                    <a:pt x="627807" y="90976"/>
                    <a:pt x="627807" y="203200"/>
                  </a:cubicBezTo>
                  <a:cubicBezTo>
                    <a:pt x="627807" y="315424"/>
                    <a:pt x="536832" y="406400"/>
                    <a:pt x="42460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627807"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26989" y="602053"/>
            <a:ext cx="18341978" cy="651938"/>
          </a:xfrm>
          <a:prstGeom prst="rect">
            <a:avLst/>
          </a:prstGeom>
        </p:spPr>
        <p:txBody>
          <a:bodyPr anchor="t" rtlCol="false" tIns="0" lIns="0" bIns="0" rIns="0">
            <a:spAutoFit/>
          </a:bodyPr>
          <a:lstStyle/>
          <a:p>
            <a:pPr algn="ctr">
              <a:lnSpc>
                <a:spcPts val="4634"/>
              </a:lnSpc>
            </a:pPr>
            <a:r>
              <a:rPr lang="en-US" sz="5452">
                <a:solidFill>
                  <a:srgbClr val="545454"/>
                </a:solidFill>
                <a:latin typeface="Bold Ink"/>
                <a:ea typeface="Bold Ink"/>
                <a:cs typeface="Bold Ink"/>
                <a:sym typeface="Bold Ink"/>
              </a:rPr>
              <a:t>KONSEP PEMESANAN HOTEL</a:t>
            </a:r>
          </a:p>
        </p:txBody>
      </p:sp>
      <p:sp>
        <p:nvSpPr>
          <p:cNvPr name="TextBox 21" id="21"/>
          <p:cNvSpPr txBox="true"/>
          <p:nvPr/>
        </p:nvSpPr>
        <p:spPr>
          <a:xfrm rot="0">
            <a:off x="2828869" y="1346895"/>
            <a:ext cx="13653768" cy="6227898"/>
          </a:xfrm>
          <a:prstGeom prst="rect">
            <a:avLst/>
          </a:prstGeom>
        </p:spPr>
        <p:txBody>
          <a:bodyPr anchor="t" rtlCol="false" tIns="0" lIns="0" bIns="0" rIns="0">
            <a:spAutoFit/>
          </a:bodyPr>
          <a:lstStyle/>
          <a:p>
            <a:pPr algn="l">
              <a:lnSpc>
                <a:spcPts val="3755"/>
              </a:lnSpc>
            </a:pPr>
            <a:r>
              <a:rPr lang="en-US" sz="2682">
                <a:solidFill>
                  <a:srgbClr val="61654D"/>
                </a:solidFill>
                <a:latin typeface="Akzidenz-Grotesk"/>
                <a:ea typeface="Akzidenz-Grotesk"/>
                <a:cs typeface="Akzidenz-Grotesk"/>
                <a:sym typeface="Akzidenz-Grotesk"/>
              </a:rPr>
              <a:t>1. login pengguna :Sistem meminta autentikasi dari pengguna (admin atau staf hotel). </a:t>
            </a:r>
          </a:p>
          <a:p>
            <a:pPr algn="l">
              <a:lnSpc>
                <a:spcPts val="3755"/>
              </a:lnSpc>
            </a:pPr>
            <a:r>
              <a:rPr lang="en-US" sz="2682">
                <a:solidFill>
                  <a:srgbClr val="61654D"/>
                </a:solidFill>
                <a:latin typeface="Akzidenz-Grotesk"/>
                <a:ea typeface="Akzidenz-Grotesk"/>
                <a:cs typeface="Akzidenz-Grotesk"/>
                <a:sym typeface="Akzidenz-Grotesk"/>
              </a:rPr>
              <a:t>2. Input Reservasi : </a:t>
            </a:r>
          </a:p>
          <a:p>
            <a:pPr algn="l">
              <a:lnSpc>
                <a:spcPts val="3755"/>
              </a:lnSpc>
            </a:pPr>
            <a:r>
              <a:rPr lang="en-US" sz="2682">
                <a:solidFill>
                  <a:srgbClr val="61654D"/>
                </a:solidFill>
                <a:latin typeface="Akzidenz-Grotesk"/>
                <a:ea typeface="Akzidenz-Grotesk"/>
                <a:cs typeface="Akzidenz-Grotesk"/>
                <a:sym typeface="Akzidenz-Grotesk"/>
              </a:rPr>
              <a:t>Staf hotel memasukan detail resevasi, termasuk nama, pelanggan, jenis kamar tanggal check in/ check out </a:t>
            </a:r>
          </a:p>
          <a:p>
            <a:pPr algn="l">
              <a:lnSpc>
                <a:spcPts val="3755"/>
              </a:lnSpc>
            </a:pPr>
            <a:r>
              <a:rPr lang="en-US" sz="2682">
                <a:solidFill>
                  <a:srgbClr val="61654D"/>
                </a:solidFill>
                <a:latin typeface="Akzidenz-Grotesk"/>
                <a:ea typeface="Akzidenz-Grotesk"/>
                <a:cs typeface="Akzidenz-Grotesk"/>
                <a:sym typeface="Akzidenz-Grotesk"/>
              </a:rPr>
              <a:t>3.Validasi Ketersediaan :Sistem memeriksa ketersediaan kamar berdasarkan data di database. </a:t>
            </a:r>
          </a:p>
          <a:p>
            <a:pPr algn="l">
              <a:lnSpc>
                <a:spcPts val="3755"/>
              </a:lnSpc>
            </a:pPr>
            <a:r>
              <a:rPr lang="en-US" sz="2682">
                <a:solidFill>
                  <a:srgbClr val="61654D"/>
                </a:solidFill>
                <a:latin typeface="Akzidenz-Grotesk"/>
                <a:ea typeface="Akzidenz-Grotesk"/>
                <a:cs typeface="Akzidenz-Grotesk"/>
                <a:sym typeface="Akzidenz-Grotesk"/>
              </a:rPr>
              <a:t>4. Konfirmasi Reservasi : </a:t>
            </a:r>
          </a:p>
          <a:p>
            <a:pPr algn="l">
              <a:lnSpc>
                <a:spcPts val="3755"/>
              </a:lnSpc>
            </a:pPr>
            <a:r>
              <a:rPr lang="en-US" sz="2682">
                <a:solidFill>
                  <a:srgbClr val="61654D"/>
                </a:solidFill>
                <a:latin typeface="Akzidenz-Grotesk"/>
                <a:ea typeface="Akzidenz-Grotesk"/>
                <a:cs typeface="Akzidenz-Grotesk"/>
                <a:sym typeface="Akzidenz-Grotesk"/>
              </a:rPr>
              <a:t>Setelah validasi, reservasi disimpan, dan detail dikonfirmasi ke pelanggan. </a:t>
            </a:r>
          </a:p>
          <a:p>
            <a:pPr algn="l">
              <a:lnSpc>
                <a:spcPts val="3755"/>
              </a:lnSpc>
            </a:pPr>
            <a:r>
              <a:rPr lang="en-US" sz="2682">
                <a:solidFill>
                  <a:srgbClr val="61654D"/>
                </a:solidFill>
                <a:latin typeface="Akzidenz-Grotesk"/>
                <a:ea typeface="Akzidenz-Grotesk"/>
                <a:cs typeface="Akzidenz-Grotesk"/>
                <a:sym typeface="Akzidenz-Grotesk"/>
              </a:rPr>
              <a:t>5. Pengelolaan Data : </a:t>
            </a:r>
          </a:p>
          <a:p>
            <a:pPr algn="l">
              <a:lnSpc>
                <a:spcPts val="3755"/>
              </a:lnSpc>
            </a:pPr>
            <a:r>
              <a:rPr lang="en-US" sz="2682">
                <a:solidFill>
                  <a:srgbClr val="61654D"/>
                </a:solidFill>
                <a:latin typeface="Akzidenz-Grotesk"/>
                <a:ea typeface="Akzidenz-Grotesk"/>
                <a:cs typeface="Akzidenz-Grotesk"/>
                <a:sym typeface="Akzidenz-Grotesk"/>
              </a:rPr>
              <a:t>Admin dapat mengelola kamar, pelanggan, dan laporan keuangan melalui menu khusus. </a:t>
            </a:r>
          </a:p>
          <a:p>
            <a:pPr algn="l">
              <a:lnSpc>
                <a:spcPts val="3755"/>
              </a:lnSpc>
            </a:pPr>
            <a:r>
              <a:rPr lang="en-US" sz="2682">
                <a:solidFill>
                  <a:srgbClr val="61654D"/>
                </a:solidFill>
                <a:latin typeface="Akzidenz-Grotesk"/>
                <a:ea typeface="Akzidenz-Grotesk"/>
                <a:cs typeface="Akzidenz-Grotesk"/>
                <a:sym typeface="Akzidenz-Grotesk"/>
              </a:rPr>
              <a:t>6. Laporan Harian : </a:t>
            </a:r>
          </a:p>
          <a:p>
            <a:pPr algn="l">
              <a:lnSpc>
                <a:spcPts val="3755"/>
              </a:lnSpc>
            </a:pPr>
            <a:r>
              <a:rPr lang="en-US" sz="2682">
                <a:solidFill>
                  <a:srgbClr val="61654D"/>
                </a:solidFill>
                <a:latin typeface="Akzidenz-Grotesk"/>
                <a:ea typeface="Akzidenz-Grotesk"/>
                <a:cs typeface="Akzidenz-Grotesk"/>
                <a:sym typeface="Akzidenz-Grotesk"/>
              </a:rPr>
              <a:t>Sistem menghasilkan laporan okupansi kamar dan pendapatan untuk membantu manajemen dalam pengambilan keputusan. </a:t>
            </a:r>
          </a:p>
          <a:p>
            <a:pPr algn="l">
              <a:lnSpc>
                <a:spcPts val="3755"/>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63849" y="7784323"/>
            <a:ext cx="8132490" cy="4066245"/>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5760647" y="-1537845"/>
            <a:ext cx="8664509" cy="4332254"/>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2345726" y="-1477174"/>
            <a:ext cx="2878425" cy="1863298"/>
            <a:chOff x="0" y="0"/>
            <a:chExt cx="627807" cy="406400"/>
          </a:xfrm>
        </p:grpSpPr>
        <p:sp>
          <p:nvSpPr>
            <p:cNvPr name="Freeform 18" id="18"/>
            <p:cNvSpPr/>
            <p:nvPr/>
          </p:nvSpPr>
          <p:spPr>
            <a:xfrm flipH="false" flipV="false" rot="0">
              <a:off x="0" y="0"/>
              <a:ext cx="627807" cy="406400"/>
            </a:xfrm>
            <a:custGeom>
              <a:avLst/>
              <a:gdLst/>
              <a:ahLst/>
              <a:cxnLst/>
              <a:rect r="r" b="b" t="t" l="l"/>
              <a:pathLst>
                <a:path h="406400" w="627807">
                  <a:moveTo>
                    <a:pt x="424607" y="0"/>
                  </a:moveTo>
                  <a:cubicBezTo>
                    <a:pt x="536832" y="0"/>
                    <a:pt x="627807" y="90976"/>
                    <a:pt x="627807" y="203200"/>
                  </a:cubicBezTo>
                  <a:cubicBezTo>
                    <a:pt x="627807" y="315424"/>
                    <a:pt x="536832" y="406400"/>
                    <a:pt x="42460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627807"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4424895" y="2693888"/>
            <a:ext cx="9438209" cy="4631009"/>
          </a:xfrm>
          <a:custGeom>
            <a:avLst/>
            <a:gdLst/>
            <a:ahLst/>
            <a:cxnLst/>
            <a:rect r="r" b="b" t="t" l="l"/>
            <a:pathLst>
              <a:path h="4631009" w="9438209">
                <a:moveTo>
                  <a:pt x="0" y="0"/>
                </a:moveTo>
                <a:lnTo>
                  <a:pt x="9438210" y="0"/>
                </a:lnTo>
                <a:lnTo>
                  <a:pt x="9438210" y="4631009"/>
                </a:lnTo>
                <a:lnTo>
                  <a:pt x="0" y="4631009"/>
                </a:lnTo>
                <a:lnTo>
                  <a:pt x="0" y="0"/>
                </a:lnTo>
                <a:close/>
              </a:path>
            </a:pathLst>
          </a:custGeom>
          <a:blipFill>
            <a:blip r:embed="rId2"/>
            <a:stretch>
              <a:fillRect l="0" t="-9951" r="0" b="-9783"/>
            </a:stretch>
          </a:blipFill>
        </p:spPr>
      </p:sp>
      <p:sp>
        <p:nvSpPr>
          <p:cNvPr name="TextBox 21" id="21"/>
          <p:cNvSpPr txBox="true"/>
          <p:nvPr/>
        </p:nvSpPr>
        <p:spPr>
          <a:xfrm rot="0">
            <a:off x="-26989" y="602053"/>
            <a:ext cx="18341978" cy="651938"/>
          </a:xfrm>
          <a:prstGeom prst="rect">
            <a:avLst/>
          </a:prstGeom>
        </p:spPr>
        <p:txBody>
          <a:bodyPr anchor="t" rtlCol="false" tIns="0" lIns="0" bIns="0" rIns="0">
            <a:spAutoFit/>
          </a:bodyPr>
          <a:lstStyle/>
          <a:p>
            <a:pPr algn="ctr">
              <a:lnSpc>
                <a:spcPts val="4634"/>
              </a:lnSpc>
            </a:pPr>
            <a:r>
              <a:rPr lang="en-US" sz="5452">
                <a:solidFill>
                  <a:srgbClr val="545454"/>
                </a:solidFill>
                <a:latin typeface="Bold Ink"/>
                <a:ea typeface="Bold Ink"/>
                <a:cs typeface="Bold Ink"/>
                <a:sym typeface="Bold Ink"/>
              </a:rPr>
              <a:t>PERANCANGAN</a:t>
            </a:r>
          </a:p>
        </p:txBody>
      </p:sp>
      <p:sp>
        <p:nvSpPr>
          <p:cNvPr name="TextBox 22" id="22"/>
          <p:cNvSpPr txBox="true"/>
          <p:nvPr/>
        </p:nvSpPr>
        <p:spPr>
          <a:xfrm rot="0">
            <a:off x="4308693" y="1608814"/>
            <a:ext cx="9670614" cy="692151"/>
          </a:xfrm>
          <a:prstGeom prst="rect">
            <a:avLst/>
          </a:prstGeom>
        </p:spPr>
        <p:txBody>
          <a:bodyPr anchor="t" rtlCol="false" tIns="0" lIns="0" bIns="0" rIns="0">
            <a:spAutoFit/>
          </a:bodyPr>
          <a:lstStyle/>
          <a:p>
            <a:pPr algn="ctr">
              <a:lnSpc>
                <a:spcPts val="2799"/>
              </a:lnSpc>
            </a:pPr>
            <a:r>
              <a:rPr lang="en-US" sz="1999">
                <a:solidFill>
                  <a:srgbClr val="545454"/>
                </a:solidFill>
                <a:latin typeface="Open Sans"/>
                <a:ea typeface="Open Sans"/>
                <a:cs typeface="Open Sans"/>
                <a:sym typeface="Open Sans"/>
              </a:rPr>
              <a:t>1. langkah pertama membuat database dengan nama bebas contoh “projek_bp1” </a:t>
            </a:r>
          </a:p>
          <a:p>
            <a:pPr algn="ctr">
              <a:lnSpc>
                <a:spcPts val="279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63849" y="7784323"/>
            <a:ext cx="8132490" cy="4066245"/>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5760647" y="-1537845"/>
            <a:ext cx="8664509" cy="4332254"/>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2345726" y="-1477174"/>
            <a:ext cx="2878425" cy="1863298"/>
            <a:chOff x="0" y="0"/>
            <a:chExt cx="627807" cy="406400"/>
          </a:xfrm>
        </p:grpSpPr>
        <p:sp>
          <p:nvSpPr>
            <p:cNvPr name="Freeform 18" id="18"/>
            <p:cNvSpPr/>
            <p:nvPr/>
          </p:nvSpPr>
          <p:spPr>
            <a:xfrm flipH="false" flipV="false" rot="0">
              <a:off x="0" y="0"/>
              <a:ext cx="627807" cy="406400"/>
            </a:xfrm>
            <a:custGeom>
              <a:avLst/>
              <a:gdLst/>
              <a:ahLst/>
              <a:cxnLst/>
              <a:rect r="r" b="b" t="t" l="l"/>
              <a:pathLst>
                <a:path h="406400" w="627807">
                  <a:moveTo>
                    <a:pt x="424607" y="0"/>
                  </a:moveTo>
                  <a:cubicBezTo>
                    <a:pt x="536832" y="0"/>
                    <a:pt x="627807" y="90976"/>
                    <a:pt x="627807" y="203200"/>
                  </a:cubicBezTo>
                  <a:cubicBezTo>
                    <a:pt x="627807" y="315424"/>
                    <a:pt x="536832" y="406400"/>
                    <a:pt x="42460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627807"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4589023" y="2042731"/>
            <a:ext cx="8889705" cy="1990948"/>
          </a:xfrm>
          <a:custGeom>
            <a:avLst/>
            <a:gdLst/>
            <a:ahLst/>
            <a:cxnLst/>
            <a:rect r="r" b="b" t="t" l="l"/>
            <a:pathLst>
              <a:path h="1990948" w="8889705">
                <a:moveTo>
                  <a:pt x="0" y="0"/>
                </a:moveTo>
                <a:lnTo>
                  <a:pt x="8889705" y="0"/>
                </a:lnTo>
                <a:lnTo>
                  <a:pt x="8889705" y="1990947"/>
                </a:lnTo>
                <a:lnTo>
                  <a:pt x="0" y="1990947"/>
                </a:lnTo>
                <a:lnTo>
                  <a:pt x="0" y="0"/>
                </a:lnTo>
                <a:close/>
              </a:path>
            </a:pathLst>
          </a:custGeom>
          <a:blipFill>
            <a:blip r:embed="rId2"/>
            <a:stretch>
              <a:fillRect l="0" t="0" r="0" b="-1161"/>
            </a:stretch>
          </a:blipFill>
        </p:spPr>
      </p:sp>
      <p:sp>
        <p:nvSpPr>
          <p:cNvPr name="Freeform 21" id="21"/>
          <p:cNvSpPr/>
          <p:nvPr/>
        </p:nvSpPr>
        <p:spPr>
          <a:xfrm flipH="false" flipV="false" rot="0">
            <a:off x="4589023" y="4678204"/>
            <a:ext cx="8343342" cy="1255244"/>
          </a:xfrm>
          <a:custGeom>
            <a:avLst/>
            <a:gdLst/>
            <a:ahLst/>
            <a:cxnLst/>
            <a:rect r="r" b="b" t="t" l="l"/>
            <a:pathLst>
              <a:path h="1255244" w="8343342">
                <a:moveTo>
                  <a:pt x="0" y="0"/>
                </a:moveTo>
                <a:lnTo>
                  <a:pt x="8343342" y="0"/>
                </a:lnTo>
                <a:lnTo>
                  <a:pt x="8343342" y="1255244"/>
                </a:lnTo>
                <a:lnTo>
                  <a:pt x="0" y="1255244"/>
                </a:lnTo>
                <a:lnTo>
                  <a:pt x="0" y="0"/>
                </a:lnTo>
                <a:close/>
              </a:path>
            </a:pathLst>
          </a:custGeom>
          <a:blipFill>
            <a:blip r:embed="rId3"/>
            <a:stretch>
              <a:fillRect l="0" t="-2758" r="0" b="-2758"/>
            </a:stretch>
          </a:blipFill>
        </p:spPr>
      </p:sp>
      <p:sp>
        <p:nvSpPr>
          <p:cNvPr name="TextBox 22" id="22"/>
          <p:cNvSpPr txBox="true"/>
          <p:nvPr/>
        </p:nvSpPr>
        <p:spPr>
          <a:xfrm rot="0">
            <a:off x="-26989" y="602053"/>
            <a:ext cx="18341978" cy="651938"/>
          </a:xfrm>
          <a:prstGeom prst="rect">
            <a:avLst/>
          </a:prstGeom>
        </p:spPr>
        <p:txBody>
          <a:bodyPr anchor="t" rtlCol="false" tIns="0" lIns="0" bIns="0" rIns="0">
            <a:spAutoFit/>
          </a:bodyPr>
          <a:lstStyle/>
          <a:p>
            <a:pPr algn="ctr">
              <a:lnSpc>
                <a:spcPts val="4634"/>
              </a:lnSpc>
            </a:pPr>
            <a:r>
              <a:rPr lang="en-US" sz="5452">
                <a:solidFill>
                  <a:srgbClr val="545454"/>
                </a:solidFill>
                <a:latin typeface="Bold Ink"/>
                <a:ea typeface="Bold Ink"/>
                <a:cs typeface="Bold Ink"/>
                <a:sym typeface="Bold Ink"/>
              </a:rPr>
              <a:t>PERANCANGAN</a:t>
            </a:r>
          </a:p>
        </p:txBody>
      </p:sp>
      <p:sp>
        <p:nvSpPr>
          <p:cNvPr name="TextBox 23" id="23"/>
          <p:cNvSpPr txBox="true"/>
          <p:nvPr/>
        </p:nvSpPr>
        <p:spPr>
          <a:xfrm rot="0">
            <a:off x="4699147" y="1388680"/>
            <a:ext cx="4101584" cy="339726"/>
          </a:xfrm>
          <a:prstGeom prst="rect">
            <a:avLst/>
          </a:prstGeom>
        </p:spPr>
        <p:txBody>
          <a:bodyPr anchor="t" rtlCol="false" tIns="0" lIns="0" bIns="0" rIns="0">
            <a:spAutoFit/>
          </a:bodyPr>
          <a:lstStyle/>
          <a:p>
            <a:pPr algn="ctr">
              <a:lnSpc>
                <a:spcPts val="2799"/>
              </a:lnSpc>
            </a:pPr>
            <a:r>
              <a:rPr lang="en-US" sz="1999">
                <a:solidFill>
                  <a:srgbClr val="545454"/>
                </a:solidFill>
                <a:latin typeface="Open Sans"/>
                <a:ea typeface="Open Sans"/>
                <a:cs typeface="Open Sans"/>
                <a:sym typeface="Open Sans"/>
              </a:rPr>
              <a:t>2.setelah itu kita membuat 6 tabel.</a:t>
            </a:r>
          </a:p>
        </p:txBody>
      </p:sp>
      <p:sp>
        <p:nvSpPr>
          <p:cNvPr name="TextBox 24" id="24"/>
          <p:cNvSpPr txBox="true"/>
          <p:nvPr/>
        </p:nvSpPr>
        <p:spPr>
          <a:xfrm rot="0">
            <a:off x="4699147" y="4167028"/>
            <a:ext cx="2553176" cy="339726"/>
          </a:xfrm>
          <a:prstGeom prst="rect">
            <a:avLst/>
          </a:prstGeom>
        </p:spPr>
        <p:txBody>
          <a:bodyPr anchor="t" rtlCol="false" tIns="0" lIns="0" bIns="0" rIns="0">
            <a:spAutoFit/>
          </a:bodyPr>
          <a:lstStyle/>
          <a:p>
            <a:pPr algn="ctr">
              <a:lnSpc>
                <a:spcPts val="2799"/>
              </a:lnSpc>
            </a:pPr>
            <a:r>
              <a:rPr lang="en-US" sz="1999">
                <a:solidFill>
                  <a:srgbClr val="545454"/>
                </a:solidFill>
                <a:latin typeface="Open Sans"/>
                <a:ea typeface="Open Sans"/>
                <a:cs typeface="Open Sans"/>
                <a:sym typeface="Open Sans"/>
              </a:rPr>
              <a:t>a. isi dari table Admin</a:t>
            </a:r>
          </a:p>
        </p:txBody>
      </p:sp>
      <p:sp>
        <p:nvSpPr>
          <p:cNvPr name="TextBox 25" id="25"/>
          <p:cNvSpPr txBox="true"/>
          <p:nvPr/>
        </p:nvSpPr>
        <p:spPr>
          <a:xfrm rot="0">
            <a:off x="4699147" y="6084531"/>
            <a:ext cx="8977284" cy="1054861"/>
          </a:xfrm>
          <a:prstGeom prst="rect">
            <a:avLst/>
          </a:prstGeom>
        </p:spPr>
        <p:txBody>
          <a:bodyPr anchor="t" rtlCol="false" tIns="0" lIns="0" bIns="0" rIns="0">
            <a:spAutoFit/>
          </a:bodyPr>
          <a:lstStyle/>
          <a:p>
            <a:pPr algn="ctr">
              <a:lnSpc>
                <a:spcPts val="2802"/>
              </a:lnSpc>
            </a:pPr>
            <a:r>
              <a:rPr lang="en-US" sz="2001">
                <a:solidFill>
                  <a:srgbClr val="545454"/>
                </a:solidFill>
                <a:latin typeface="Open Sans"/>
                <a:ea typeface="Open Sans"/>
                <a:cs typeface="Open Sans"/>
                <a:sym typeface="Open Sans"/>
              </a:rPr>
              <a:t>isi table yang telah kita buat untuk ketiganya untuk login pada form yang kita buat nanti pada bagian level fungsinya adalah pada form yang kita buat nanti kita bisa memilih loginya menggunakan user atau admin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63849" y="7784323"/>
            <a:ext cx="8132490" cy="4066245"/>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5760647" y="-1537845"/>
            <a:ext cx="8664509" cy="4332254"/>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2345726" y="-1477174"/>
            <a:ext cx="2878425" cy="1863298"/>
            <a:chOff x="0" y="0"/>
            <a:chExt cx="627807" cy="406400"/>
          </a:xfrm>
        </p:grpSpPr>
        <p:sp>
          <p:nvSpPr>
            <p:cNvPr name="Freeform 18" id="18"/>
            <p:cNvSpPr/>
            <p:nvPr/>
          </p:nvSpPr>
          <p:spPr>
            <a:xfrm flipH="false" flipV="false" rot="0">
              <a:off x="0" y="0"/>
              <a:ext cx="627807" cy="406400"/>
            </a:xfrm>
            <a:custGeom>
              <a:avLst/>
              <a:gdLst/>
              <a:ahLst/>
              <a:cxnLst/>
              <a:rect r="r" b="b" t="t" l="l"/>
              <a:pathLst>
                <a:path h="406400" w="627807">
                  <a:moveTo>
                    <a:pt x="424607" y="0"/>
                  </a:moveTo>
                  <a:cubicBezTo>
                    <a:pt x="536832" y="0"/>
                    <a:pt x="627807" y="90976"/>
                    <a:pt x="627807" y="203200"/>
                  </a:cubicBezTo>
                  <a:cubicBezTo>
                    <a:pt x="627807" y="315424"/>
                    <a:pt x="536832" y="406400"/>
                    <a:pt x="42460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627807"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4699147" y="1878860"/>
            <a:ext cx="9416381" cy="1400687"/>
          </a:xfrm>
          <a:custGeom>
            <a:avLst/>
            <a:gdLst/>
            <a:ahLst/>
            <a:cxnLst/>
            <a:rect r="r" b="b" t="t" l="l"/>
            <a:pathLst>
              <a:path h="1400687" w="9416381">
                <a:moveTo>
                  <a:pt x="0" y="0"/>
                </a:moveTo>
                <a:lnTo>
                  <a:pt x="9416382" y="0"/>
                </a:lnTo>
                <a:lnTo>
                  <a:pt x="9416382" y="1400687"/>
                </a:lnTo>
                <a:lnTo>
                  <a:pt x="0" y="1400687"/>
                </a:lnTo>
                <a:lnTo>
                  <a:pt x="0" y="0"/>
                </a:lnTo>
                <a:close/>
              </a:path>
            </a:pathLst>
          </a:custGeom>
          <a:blipFill>
            <a:blip r:embed="rId2"/>
            <a:stretch>
              <a:fillRect l="0" t="0" r="0" b="0"/>
            </a:stretch>
          </a:blipFill>
        </p:spPr>
      </p:sp>
      <p:sp>
        <p:nvSpPr>
          <p:cNvPr name="Freeform 21" id="21"/>
          <p:cNvSpPr/>
          <p:nvPr/>
        </p:nvSpPr>
        <p:spPr>
          <a:xfrm flipH="false" flipV="false" rot="0">
            <a:off x="4699147" y="4478338"/>
            <a:ext cx="9965940" cy="1868614"/>
          </a:xfrm>
          <a:custGeom>
            <a:avLst/>
            <a:gdLst/>
            <a:ahLst/>
            <a:cxnLst/>
            <a:rect r="r" b="b" t="t" l="l"/>
            <a:pathLst>
              <a:path h="1868614" w="9965940">
                <a:moveTo>
                  <a:pt x="0" y="0"/>
                </a:moveTo>
                <a:lnTo>
                  <a:pt x="9965940" y="0"/>
                </a:lnTo>
                <a:lnTo>
                  <a:pt x="9965940" y="1868613"/>
                </a:lnTo>
                <a:lnTo>
                  <a:pt x="0" y="1868613"/>
                </a:lnTo>
                <a:lnTo>
                  <a:pt x="0" y="0"/>
                </a:lnTo>
                <a:close/>
              </a:path>
            </a:pathLst>
          </a:custGeom>
          <a:blipFill>
            <a:blip r:embed="rId3"/>
            <a:stretch>
              <a:fillRect l="0" t="0" r="0" b="0"/>
            </a:stretch>
          </a:blipFill>
        </p:spPr>
      </p:sp>
      <p:sp>
        <p:nvSpPr>
          <p:cNvPr name="TextBox 22" id="22"/>
          <p:cNvSpPr txBox="true"/>
          <p:nvPr/>
        </p:nvSpPr>
        <p:spPr>
          <a:xfrm rot="0">
            <a:off x="-26989" y="602053"/>
            <a:ext cx="18341978" cy="651938"/>
          </a:xfrm>
          <a:prstGeom prst="rect">
            <a:avLst/>
          </a:prstGeom>
        </p:spPr>
        <p:txBody>
          <a:bodyPr anchor="t" rtlCol="false" tIns="0" lIns="0" bIns="0" rIns="0">
            <a:spAutoFit/>
          </a:bodyPr>
          <a:lstStyle/>
          <a:p>
            <a:pPr algn="ctr">
              <a:lnSpc>
                <a:spcPts val="4634"/>
              </a:lnSpc>
            </a:pPr>
            <a:r>
              <a:rPr lang="en-US" sz="5452">
                <a:solidFill>
                  <a:srgbClr val="545454"/>
                </a:solidFill>
                <a:latin typeface="Bold Ink"/>
                <a:ea typeface="Bold Ink"/>
                <a:cs typeface="Bold Ink"/>
                <a:sym typeface="Bold Ink"/>
              </a:rPr>
              <a:t>PERANCANGAN</a:t>
            </a:r>
          </a:p>
        </p:txBody>
      </p:sp>
      <p:sp>
        <p:nvSpPr>
          <p:cNvPr name="TextBox 23" id="23"/>
          <p:cNvSpPr txBox="true"/>
          <p:nvPr/>
        </p:nvSpPr>
        <p:spPr>
          <a:xfrm rot="0">
            <a:off x="4699147" y="1377209"/>
            <a:ext cx="2318028" cy="339726"/>
          </a:xfrm>
          <a:prstGeom prst="rect">
            <a:avLst/>
          </a:prstGeom>
        </p:spPr>
        <p:txBody>
          <a:bodyPr anchor="t" rtlCol="false" tIns="0" lIns="0" bIns="0" rIns="0">
            <a:spAutoFit/>
          </a:bodyPr>
          <a:lstStyle/>
          <a:p>
            <a:pPr algn="ctr">
              <a:lnSpc>
                <a:spcPts val="2799"/>
              </a:lnSpc>
            </a:pPr>
            <a:r>
              <a:rPr lang="en-US" sz="1999">
                <a:solidFill>
                  <a:srgbClr val="545454"/>
                </a:solidFill>
                <a:latin typeface="Open Sans"/>
                <a:ea typeface="Open Sans"/>
                <a:cs typeface="Open Sans"/>
                <a:sym typeface="Open Sans"/>
              </a:rPr>
              <a:t>b. isi dari table user</a:t>
            </a:r>
          </a:p>
        </p:txBody>
      </p:sp>
      <p:sp>
        <p:nvSpPr>
          <p:cNvPr name="TextBox 24" id="24"/>
          <p:cNvSpPr txBox="true"/>
          <p:nvPr/>
        </p:nvSpPr>
        <p:spPr>
          <a:xfrm rot="0">
            <a:off x="3987074" y="3393847"/>
            <a:ext cx="8977284" cy="349478"/>
          </a:xfrm>
          <a:prstGeom prst="rect">
            <a:avLst/>
          </a:prstGeom>
        </p:spPr>
        <p:txBody>
          <a:bodyPr anchor="t" rtlCol="false" tIns="0" lIns="0" bIns="0" rIns="0">
            <a:spAutoFit/>
          </a:bodyPr>
          <a:lstStyle/>
          <a:p>
            <a:pPr algn="ctr">
              <a:lnSpc>
                <a:spcPts val="2802"/>
              </a:lnSpc>
            </a:pPr>
            <a:r>
              <a:rPr lang="en-US" sz="2001">
                <a:solidFill>
                  <a:srgbClr val="545454"/>
                </a:solidFill>
                <a:latin typeface="Open Sans"/>
                <a:ea typeface="Open Sans"/>
                <a:cs typeface="Open Sans"/>
                <a:sym typeface="Open Sans"/>
              </a:rPr>
              <a:t>isi nya sama saja seperti table admin yang telah kita buat tadi.</a:t>
            </a:r>
          </a:p>
        </p:txBody>
      </p:sp>
      <p:sp>
        <p:nvSpPr>
          <p:cNvPr name="TextBox 25" id="25"/>
          <p:cNvSpPr txBox="true"/>
          <p:nvPr/>
        </p:nvSpPr>
        <p:spPr>
          <a:xfrm rot="0">
            <a:off x="4594280" y="3919537"/>
            <a:ext cx="1760220" cy="339726"/>
          </a:xfrm>
          <a:prstGeom prst="rect">
            <a:avLst/>
          </a:prstGeom>
        </p:spPr>
        <p:txBody>
          <a:bodyPr anchor="t" rtlCol="false" tIns="0" lIns="0" bIns="0" rIns="0">
            <a:spAutoFit/>
          </a:bodyPr>
          <a:lstStyle/>
          <a:p>
            <a:pPr algn="ctr">
              <a:lnSpc>
                <a:spcPts val="2799"/>
              </a:lnSpc>
            </a:pPr>
            <a:r>
              <a:rPr lang="en-US" sz="1999">
                <a:solidFill>
                  <a:srgbClr val="545454"/>
                </a:solidFill>
                <a:latin typeface="Open Sans"/>
                <a:ea typeface="Open Sans"/>
                <a:cs typeface="Open Sans"/>
                <a:sym typeface="Open Sans"/>
              </a:rPr>
              <a:t>c. isi dari table </a:t>
            </a:r>
          </a:p>
        </p:txBody>
      </p:sp>
      <p:sp>
        <p:nvSpPr>
          <p:cNvPr name="TextBox 26" id="26"/>
          <p:cNvSpPr txBox="true"/>
          <p:nvPr/>
        </p:nvSpPr>
        <p:spPr>
          <a:xfrm rot="0">
            <a:off x="4685036" y="6604126"/>
            <a:ext cx="8917929" cy="1054061"/>
          </a:xfrm>
          <a:prstGeom prst="rect">
            <a:avLst/>
          </a:prstGeom>
        </p:spPr>
        <p:txBody>
          <a:bodyPr anchor="t" rtlCol="false" tIns="0" lIns="0" bIns="0" rIns="0">
            <a:spAutoFit/>
          </a:bodyPr>
          <a:lstStyle/>
          <a:p>
            <a:pPr algn="just">
              <a:lnSpc>
                <a:spcPts val="2802"/>
              </a:lnSpc>
            </a:pPr>
            <a:r>
              <a:rPr lang="en-US" sz="2001">
                <a:solidFill>
                  <a:srgbClr val="545454"/>
                </a:solidFill>
                <a:latin typeface="Open Sans"/>
                <a:ea typeface="Open Sans"/>
                <a:cs typeface="Open Sans"/>
                <a:sym typeface="Open Sans"/>
              </a:rPr>
              <a:t>table diatas fungsinya untuk memilih pesanan kamar yang kita ingin pesan, </a:t>
            </a:r>
          </a:p>
          <a:p>
            <a:pPr algn="just">
              <a:lnSpc>
                <a:spcPts val="2802"/>
              </a:lnSpc>
            </a:pPr>
            <a:r>
              <a:rPr lang="en-US" sz="2001">
                <a:solidFill>
                  <a:srgbClr val="545454"/>
                </a:solidFill>
                <a:latin typeface="Open Sans"/>
                <a:ea typeface="Open Sans"/>
                <a:cs typeface="Open Sans"/>
                <a:sym typeface="Open Sans"/>
              </a:rPr>
              <a:t>nanti nya user bisa memilih spesifikasi kamar, harga dll. </a:t>
            </a:r>
          </a:p>
          <a:p>
            <a:pPr algn="just">
              <a:lnSpc>
                <a:spcPts val="2802"/>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63849" y="7784323"/>
            <a:ext cx="8132490" cy="4066245"/>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5760647" y="-1537845"/>
            <a:ext cx="8664509" cy="4332254"/>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2345726" y="-1477174"/>
            <a:ext cx="2878425" cy="1863298"/>
            <a:chOff x="0" y="0"/>
            <a:chExt cx="627807" cy="406400"/>
          </a:xfrm>
        </p:grpSpPr>
        <p:sp>
          <p:nvSpPr>
            <p:cNvPr name="Freeform 18" id="18"/>
            <p:cNvSpPr/>
            <p:nvPr/>
          </p:nvSpPr>
          <p:spPr>
            <a:xfrm flipH="false" flipV="false" rot="0">
              <a:off x="0" y="0"/>
              <a:ext cx="627807" cy="406400"/>
            </a:xfrm>
            <a:custGeom>
              <a:avLst/>
              <a:gdLst/>
              <a:ahLst/>
              <a:cxnLst/>
              <a:rect r="r" b="b" t="t" l="l"/>
              <a:pathLst>
                <a:path h="406400" w="627807">
                  <a:moveTo>
                    <a:pt x="424607" y="0"/>
                  </a:moveTo>
                  <a:cubicBezTo>
                    <a:pt x="536832" y="0"/>
                    <a:pt x="627807" y="90976"/>
                    <a:pt x="627807" y="203200"/>
                  </a:cubicBezTo>
                  <a:cubicBezTo>
                    <a:pt x="627807" y="315424"/>
                    <a:pt x="536832" y="406400"/>
                    <a:pt x="42460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627807"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3493371" y="2491477"/>
            <a:ext cx="11301259" cy="1836455"/>
          </a:xfrm>
          <a:custGeom>
            <a:avLst/>
            <a:gdLst/>
            <a:ahLst/>
            <a:cxnLst/>
            <a:rect r="r" b="b" t="t" l="l"/>
            <a:pathLst>
              <a:path h="1836455" w="11301259">
                <a:moveTo>
                  <a:pt x="0" y="0"/>
                </a:moveTo>
                <a:lnTo>
                  <a:pt x="11301258" y="0"/>
                </a:lnTo>
                <a:lnTo>
                  <a:pt x="11301258" y="1836455"/>
                </a:lnTo>
                <a:lnTo>
                  <a:pt x="0" y="1836455"/>
                </a:lnTo>
                <a:lnTo>
                  <a:pt x="0" y="0"/>
                </a:lnTo>
                <a:close/>
              </a:path>
            </a:pathLst>
          </a:custGeom>
          <a:blipFill>
            <a:blip r:embed="rId2"/>
            <a:stretch>
              <a:fillRect l="0" t="0" r="0" b="0"/>
            </a:stretch>
          </a:blipFill>
        </p:spPr>
      </p:sp>
      <p:sp>
        <p:nvSpPr>
          <p:cNvPr name="TextBox 21" id="21"/>
          <p:cNvSpPr txBox="true"/>
          <p:nvPr/>
        </p:nvSpPr>
        <p:spPr>
          <a:xfrm rot="0">
            <a:off x="-26989" y="602053"/>
            <a:ext cx="18341978" cy="651938"/>
          </a:xfrm>
          <a:prstGeom prst="rect">
            <a:avLst/>
          </a:prstGeom>
        </p:spPr>
        <p:txBody>
          <a:bodyPr anchor="t" rtlCol="false" tIns="0" lIns="0" bIns="0" rIns="0">
            <a:spAutoFit/>
          </a:bodyPr>
          <a:lstStyle/>
          <a:p>
            <a:pPr algn="ctr">
              <a:lnSpc>
                <a:spcPts val="4634"/>
              </a:lnSpc>
            </a:pPr>
            <a:r>
              <a:rPr lang="en-US" sz="5452">
                <a:solidFill>
                  <a:srgbClr val="545454"/>
                </a:solidFill>
                <a:latin typeface="Bold Ink"/>
                <a:ea typeface="Bold Ink"/>
                <a:cs typeface="Bold Ink"/>
                <a:sym typeface="Bold Ink"/>
              </a:rPr>
              <a:t>PERANCANGAN</a:t>
            </a:r>
          </a:p>
        </p:txBody>
      </p:sp>
      <p:sp>
        <p:nvSpPr>
          <p:cNvPr name="TextBox 22" id="22"/>
          <p:cNvSpPr txBox="true"/>
          <p:nvPr/>
        </p:nvSpPr>
        <p:spPr>
          <a:xfrm rot="0">
            <a:off x="3493371" y="1959054"/>
            <a:ext cx="3774758" cy="339726"/>
          </a:xfrm>
          <a:prstGeom prst="rect">
            <a:avLst/>
          </a:prstGeom>
        </p:spPr>
        <p:txBody>
          <a:bodyPr anchor="t" rtlCol="false" tIns="0" lIns="0" bIns="0" rIns="0">
            <a:spAutoFit/>
          </a:bodyPr>
          <a:lstStyle/>
          <a:p>
            <a:pPr algn="ctr">
              <a:lnSpc>
                <a:spcPts val="2799"/>
              </a:lnSpc>
            </a:pPr>
            <a:r>
              <a:rPr lang="en-US" sz="1999">
                <a:solidFill>
                  <a:srgbClr val="545454"/>
                </a:solidFill>
                <a:latin typeface="Open Sans"/>
                <a:ea typeface="Open Sans"/>
                <a:cs typeface="Open Sans"/>
                <a:sym typeface="Open Sans"/>
              </a:rPr>
              <a:t>d. isi dari table tingkatan_kamar</a:t>
            </a:r>
          </a:p>
        </p:txBody>
      </p:sp>
      <p:sp>
        <p:nvSpPr>
          <p:cNvPr name="TextBox 23" id="23"/>
          <p:cNvSpPr txBox="true"/>
          <p:nvPr/>
        </p:nvSpPr>
        <p:spPr>
          <a:xfrm rot="0">
            <a:off x="3493371" y="4617136"/>
            <a:ext cx="11786648" cy="1044576"/>
          </a:xfrm>
          <a:prstGeom prst="rect">
            <a:avLst/>
          </a:prstGeom>
        </p:spPr>
        <p:txBody>
          <a:bodyPr anchor="t" rtlCol="false" tIns="0" lIns="0" bIns="0" rIns="0">
            <a:spAutoFit/>
          </a:bodyPr>
          <a:lstStyle/>
          <a:p>
            <a:pPr algn="l">
              <a:lnSpc>
                <a:spcPts val="2799"/>
              </a:lnSpc>
            </a:pPr>
            <a:r>
              <a:rPr lang="en-US" sz="1999">
                <a:solidFill>
                  <a:srgbClr val="545454"/>
                </a:solidFill>
                <a:latin typeface="Open Sans"/>
                <a:ea typeface="Open Sans"/>
                <a:cs typeface="Open Sans"/>
                <a:sym typeface="Open Sans"/>
              </a:rPr>
              <a:t>table tingkatan_kamar fungsinya untuk memasukan kategori yang akan buat,  </a:t>
            </a:r>
          </a:p>
          <a:p>
            <a:pPr algn="l">
              <a:lnSpc>
                <a:spcPts val="2799"/>
              </a:lnSpc>
            </a:pPr>
            <a:r>
              <a:rPr lang="en-US" sz="1999">
                <a:solidFill>
                  <a:srgbClr val="545454"/>
                </a:solidFill>
                <a:latin typeface="Open Sans"/>
                <a:ea typeface="Open Sans"/>
                <a:cs typeface="Open Sans"/>
                <a:sym typeface="Open Sans"/>
              </a:rPr>
              <a:t>nantinya user bisa memilih kamar yang dipilih sesuai dengan kategori kamar yang telah kita buat. </a:t>
            </a:r>
          </a:p>
          <a:p>
            <a:pPr algn="l">
              <a:lnSpc>
                <a:spcPts val="279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63849" y="7784323"/>
            <a:ext cx="8132490" cy="4066245"/>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5760647" y="-1537845"/>
            <a:ext cx="8664509" cy="4332254"/>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2345726" y="-1477174"/>
            <a:ext cx="2878425" cy="1863298"/>
            <a:chOff x="0" y="0"/>
            <a:chExt cx="627807" cy="406400"/>
          </a:xfrm>
        </p:grpSpPr>
        <p:sp>
          <p:nvSpPr>
            <p:cNvPr name="Freeform 18" id="18"/>
            <p:cNvSpPr/>
            <p:nvPr/>
          </p:nvSpPr>
          <p:spPr>
            <a:xfrm flipH="false" flipV="false" rot="0">
              <a:off x="0" y="0"/>
              <a:ext cx="627807" cy="406400"/>
            </a:xfrm>
            <a:custGeom>
              <a:avLst/>
              <a:gdLst/>
              <a:ahLst/>
              <a:cxnLst/>
              <a:rect r="r" b="b" t="t" l="l"/>
              <a:pathLst>
                <a:path h="406400" w="627807">
                  <a:moveTo>
                    <a:pt x="424607" y="0"/>
                  </a:moveTo>
                  <a:cubicBezTo>
                    <a:pt x="536832" y="0"/>
                    <a:pt x="627807" y="90976"/>
                    <a:pt x="627807" y="203200"/>
                  </a:cubicBezTo>
                  <a:cubicBezTo>
                    <a:pt x="627807" y="315424"/>
                    <a:pt x="536832" y="406400"/>
                    <a:pt x="42460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627807"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3919672" y="2701372"/>
            <a:ext cx="10448656" cy="1985245"/>
          </a:xfrm>
          <a:custGeom>
            <a:avLst/>
            <a:gdLst/>
            <a:ahLst/>
            <a:cxnLst/>
            <a:rect r="r" b="b" t="t" l="l"/>
            <a:pathLst>
              <a:path h="1985245" w="10448656">
                <a:moveTo>
                  <a:pt x="0" y="0"/>
                </a:moveTo>
                <a:lnTo>
                  <a:pt x="10448656" y="0"/>
                </a:lnTo>
                <a:lnTo>
                  <a:pt x="10448656" y="1985245"/>
                </a:lnTo>
                <a:lnTo>
                  <a:pt x="0" y="1985245"/>
                </a:lnTo>
                <a:lnTo>
                  <a:pt x="0" y="0"/>
                </a:lnTo>
                <a:close/>
              </a:path>
            </a:pathLst>
          </a:custGeom>
          <a:blipFill>
            <a:blip r:embed="rId2"/>
            <a:stretch>
              <a:fillRect l="0" t="0" r="0" b="0"/>
            </a:stretch>
          </a:blipFill>
        </p:spPr>
      </p:sp>
      <p:sp>
        <p:nvSpPr>
          <p:cNvPr name="TextBox 21" id="21"/>
          <p:cNvSpPr txBox="true"/>
          <p:nvPr/>
        </p:nvSpPr>
        <p:spPr>
          <a:xfrm rot="0">
            <a:off x="-26989" y="602053"/>
            <a:ext cx="18341978" cy="651938"/>
          </a:xfrm>
          <a:prstGeom prst="rect">
            <a:avLst/>
          </a:prstGeom>
        </p:spPr>
        <p:txBody>
          <a:bodyPr anchor="t" rtlCol="false" tIns="0" lIns="0" bIns="0" rIns="0">
            <a:spAutoFit/>
          </a:bodyPr>
          <a:lstStyle/>
          <a:p>
            <a:pPr algn="ctr">
              <a:lnSpc>
                <a:spcPts val="4634"/>
              </a:lnSpc>
            </a:pPr>
            <a:r>
              <a:rPr lang="en-US" sz="5452">
                <a:solidFill>
                  <a:srgbClr val="545454"/>
                </a:solidFill>
                <a:latin typeface="Bold Ink"/>
                <a:ea typeface="Bold Ink"/>
                <a:cs typeface="Bold Ink"/>
                <a:sym typeface="Bold Ink"/>
              </a:rPr>
              <a:t>PERANCANGAN</a:t>
            </a:r>
          </a:p>
        </p:txBody>
      </p:sp>
      <p:sp>
        <p:nvSpPr>
          <p:cNvPr name="TextBox 22" id="22"/>
          <p:cNvSpPr txBox="true"/>
          <p:nvPr/>
        </p:nvSpPr>
        <p:spPr>
          <a:xfrm rot="0">
            <a:off x="3784938" y="1959054"/>
            <a:ext cx="3245168" cy="339726"/>
          </a:xfrm>
          <a:prstGeom prst="rect">
            <a:avLst/>
          </a:prstGeom>
        </p:spPr>
        <p:txBody>
          <a:bodyPr anchor="t" rtlCol="false" tIns="0" lIns="0" bIns="0" rIns="0">
            <a:spAutoFit/>
          </a:bodyPr>
          <a:lstStyle/>
          <a:p>
            <a:pPr algn="ctr">
              <a:lnSpc>
                <a:spcPts val="2799"/>
              </a:lnSpc>
            </a:pPr>
            <a:r>
              <a:rPr lang="en-US" sz="1999">
                <a:solidFill>
                  <a:srgbClr val="545454"/>
                </a:solidFill>
                <a:latin typeface="Open Sans"/>
                <a:ea typeface="Open Sans"/>
                <a:cs typeface="Open Sans"/>
                <a:sym typeface="Open Sans"/>
              </a:rPr>
              <a:t>e.  isi dari table data_kamar</a:t>
            </a:r>
          </a:p>
        </p:txBody>
      </p:sp>
      <p:sp>
        <p:nvSpPr>
          <p:cNvPr name="TextBox 23" id="23"/>
          <p:cNvSpPr txBox="true"/>
          <p:nvPr/>
        </p:nvSpPr>
        <p:spPr>
          <a:xfrm rot="0">
            <a:off x="4005187" y="5051110"/>
            <a:ext cx="9179420" cy="1397001"/>
          </a:xfrm>
          <a:prstGeom prst="rect">
            <a:avLst/>
          </a:prstGeom>
        </p:spPr>
        <p:txBody>
          <a:bodyPr anchor="t" rtlCol="false" tIns="0" lIns="0" bIns="0" rIns="0">
            <a:spAutoFit/>
          </a:bodyPr>
          <a:lstStyle/>
          <a:p>
            <a:pPr algn="l">
              <a:lnSpc>
                <a:spcPts val="2799"/>
              </a:lnSpc>
            </a:pPr>
            <a:r>
              <a:rPr lang="en-US" sz="1999">
                <a:solidFill>
                  <a:srgbClr val="545454"/>
                </a:solidFill>
                <a:latin typeface="Open Sans"/>
                <a:ea typeface="Open Sans"/>
                <a:cs typeface="Open Sans"/>
                <a:sym typeface="Open Sans"/>
              </a:rPr>
              <a:t>untuk table data_kamar ini fungsinya untuk memasukan kamar yang akan di </a:t>
            </a:r>
          </a:p>
          <a:p>
            <a:pPr algn="l">
              <a:lnSpc>
                <a:spcPts val="2799"/>
              </a:lnSpc>
            </a:pPr>
            <a:r>
              <a:rPr lang="en-US" sz="1999">
                <a:solidFill>
                  <a:srgbClr val="545454"/>
                </a:solidFill>
                <a:latin typeface="Open Sans"/>
                <a:ea typeface="Open Sans"/>
                <a:cs typeface="Open Sans"/>
                <a:sym typeface="Open Sans"/>
              </a:rPr>
              <a:t>pesan dan user bisa memilih nama tingkatan kamar dan jumlah kamar yang di pesan nya berapa. </a:t>
            </a:r>
          </a:p>
          <a:p>
            <a:pPr algn="l">
              <a:lnSpc>
                <a:spcPts val="2799"/>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63849" y="7784323"/>
            <a:ext cx="8132490" cy="4066245"/>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5760647" y="-1537845"/>
            <a:ext cx="8664509" cy="4332254"/>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2345726" y="-1477174"/>
            <a:ext cx="2878425" cy="1863298"/>
            <a:chOff x="0" y="0"/>
            <a:chExt cx="627807" cy="406400"/>
          </a:xfrm>
        </p:grpSpPr>
        <p:sp>
          <p:nvSpPr>
            <p:cNvPr name="Freeform 18" id="18"/>
            <p:cNvSpPr/>
            <p:nvPr/>
          </p:nvSpPr>
          <p:spPr>
            <a:xfrm flipH="false" flipV="false" rot="0">
              <a:off x="0" y="0"/>
              <a:ext cx="627807" cy="406400"/>
            </a:xfrm>
            <a:custGeom>
              <a:avLst/>
              <a:gdLst/>
              <a:ahLst/>
              <a:cxnLst/>
              <a:rect r="r" b="b" t="t" l="l"/>
              <a:pathLst>
                <a:path h="406400" w="627807">
                  <a:moveTo>
                    <a:pt x="424607" y="0"/>
                  </a:moveTo>
                  <a:cubicBezTo>
                    <a:pt x="536832" y="0"/>
                    <a:pt x="627807" y="90976"/>
                    <a:pt x="627807" y="203200"/>
                  </a:cubicBezTo>
                  <a:cubicBezTo>
                    <a:pt x="627807" y="315424"/>
                    <a:pt x="536832" y="406400"/>
                    <a:pt x="42460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627807"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3076846" y="2634502"/>
            <a:ext cx="11301259" cy="2118986"/>
          </a:xfrm>
          <a:custGeom>
            <a:avLst/>
            <a:gdLst/>
            <a:ahLst/>
            <a:cxnLst/>
            <a:rect r="r" b="b" t="t" l="l"/>
            <a:pathLst>
              <a:path h="2118986" w="11301259">
                <a:moveTo>
                  <a:pt x="0" y="0"/>
                </a:moveTo>
                <a:lnTo>
                  <a:pt x="11301258" y="0"/>
                </a:lnTo>
                <a:lnTo>
                  <a:pt x="11301258" y="2118986"/>
                </a:lnTo>
                <a:lnTo>
                  <a:pt x="0" y="2118986"/>
                </a:lnTo>
                <a:lnTo>
                  <a:pt x="0" y="0"/>
                </a:lnTo>
                <a:close/>
              </a:path>
            </a:pathLst>
          </a:custGeom>
          <a:blipFill>
            <a:blip r:embed="rId2"/>
            <a:stretch>
              <a:fillRect l="0" t="0" r="0" b="0"/>
            </a:stretch>
          </a:blipFill>
        </p:spPr>
      </p:sp>
      <p:sp>
        <p:nvSpPr>
          <p:cNvPr name="TextBox 21" id="21"/>
          <p:cNvSpPr txBox="true"/>
          <p:nvPr/>
        </p:nvSpPr>
        <p:spPr>
          <a:xfrm rot="0">
            <a:off x="-26989" y="602053"/>
            <a:ext cx="18341978" cy="651938"/>
          </a:xfrm>
          <a:prstGeom prst="rect">
            <a:avLst/>
          </a:prstGeom>
        </p:spPr>
        <p:txBody>
          <a:bodyPr anchor="t" rtlCol="false" tIns="0" lIns="0" bIns="0" rIns="0">
            <a:spAutoFit/>
          </a:bodyPr>
          <a:lstStyle/>
          <a:p>
            <a:pPr algn="ctr">
              <a:lnSpc>
                <a:spcPts val="4634"/>
              </a:lnSpc>
            </a:pPr>
            <a:r>
              <a:rPr lang="en-US" sz="5452">
                <a:solidFill>
                  <a:srgbClr val="545454"/>
                </a:solidFill>
                <a:latin typeface="Bold Ink"/>
                <a:ea typeface="Bold Ink"/>
                <a:cs typeface="Bold Ink"/>
                <a:sym typeface="Bold Ink"/>
              </a:rPr>
              <a:t>PERANCANGAN</a:t>
            </a:r>
          </a:p>
        </p:txBody>
      </p:sp>
      <p:sp>
        <p:nvSpPr>
          <p:cNvPr name="TextBox 22" id="22"/>
          <p:cNvSpPr txBox="true"/>
          <p:nvPr/>
        </p:nvSpPr>
        <p:spPr>
          <a:xfrm rot="0">
            <a:off x="4134149" y="1959054"/>
            <a:ext cx="2546747" cy="339726"/>
          </a:xfrm>
          <a:prstGeom prst="rect">
            <a:avLst/>
          </a:prstGeom>
        </p:spPr>
        <p:txBody>
          <a:bodyPr anchor="t" rtlCol="false" tIns="0" lIns="0" bIns="0" rIns="0">
            <a:spAutoFit/>
          </a:bodyPr>
          <a:lstStyle/>
          <a:p>
            <a:pPr algn="ctr">
              <a:lnSpc>
                <a:spcPts val="2799"/>
              </a:lnSpc>
            </a:pPr>
            <a:r>
              <a:rPr lang="en-US" sz="1999">
                <a:solidFill>
                  <a:srgbClr val="545454"/>
                </a:solidFill>
                <a:latin typeface="Open Sans"/>
                <a:ea typeface="Open Sans"/>
                <a:cs typeface="Open Sans"/>
                <a:sym typeface="Open Sans"/>
              </a:rPr>
              <a:t>f.  isi dari table kamar</a:t>
            </a:r>
          </a:p>
        </p:txBody>
      </p:sp>
      <p:sp>
        <p:nvSpPr>
          <p:cNvPr name="TextBox 23" id="23"/>
          <p:cNvSpPr txBox="true"/>
          <p:nvPr/>
        </p:nvSpPr>
        <p:spPr>
          <a:xfrm rot="0">
            <a:off x="4005187" y="5051110"/>
            <a:ext cx="9179420" cy="692151"/>
          </a:xfrm>
          <a:prstGeom prst="rect">
            <a:avLst/>
          </a:prstGeom>
        </p:spPr>
        <p:txBody>
          <a:bodyPr anchor="t" rtlCol="false" tIns="0" lIns="0" bIns="0" rIns="0">
            <a:spAutoFit/>
          </a:bodyPr>
          <a:lstStyle/>
          <a:p>
            <a:pPr algn="l">
              <a:lnSpc>
                <a:spcPts val="2799"/>
              </a:lnSpc>
            </a:pPr>
            <a:r>
              <a:rPr lang="en-US" sz="1999">
                <a:solidFill>
                  <a:srgbClr val="545454"/>
                </a:solidFill>
                <a:latin typeface="Open Sans"/>
                <a:ea typeface="Open Sans"/>
                <a:cs typeface="Open Sans"/>
                <a:sym typeface="Open Sans"/>
              </a:rPr>
              <a:t>table diatas fungsinya untuk memilih pesanan kamar yang kita ingin pesan, </a:t>
            </a:r>
          </a:p>
          <a:p>
            <a:pPr algn="l">
              <a:lnSpc>
                <a:spcPts val="2799"/>
              </a:lnSpc>
            </a:pPr>
            <a:r>
              <a:rPr lang="en-US" sz="1999">
                <a:solidFill>
                  <a:srgbClr val="545454"/>
                </a:solidFill>
                <a:latin typeface="Open Sans"/>
                <a:ea typeface="Open Sans"/>
                <a:cs typeface="Open Sans"/>
                <a:sym typeface="Open Sans"/>
              </a:rPr>
              <a:t>nanti nya user bisa memilih spesifikasi kamar, harga dll</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63849" y="7784323"/>
            <a:ext cx="8132490" cy="4066245"/>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5760647" y="-1537845"/>
            <a:ext cx="8664509" cy="4332254"/>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2345726" y="-1477174"/>
            <a:ext cx="2878425" cy="1863298"/>
            <a:chOff x="0" y="0"/>
            <a:chExt cx="627807" cy="406400"/>
          </a:xfrm>
        </p:grpSpPr>
        <p:sp>
          <p:nvSpPr>
            <p:cNvPr name="Freeform 18" id="18"/>
            <p:cNvSpPr/>
            <p:nvPr/>
          </p:nvSpPr>
          <p:spPr>
            <a:xfrm flipH="false" flipV="false" rot="0">
              <a:off x="0" y="0"/>
              <a:ext cx="627807" cy="406400"/>
            </a:xfrm>
            <a:custGeom>
              <a:avLst/>
              <a:gdLst/>
              <a:ahLst/>
              <a:cxnLst/>
              <a:rect r="r" b="b" t="t" l="l"/>
              <a:pathLst>
                <a:path h="406400" w="627807">
                  <a:moveTo>
                    <a:pt x="424607" y="0"/>
                  </a:moveTo>
                  <a:cubicBezTo>
                    <a:pt x="536832" y="0"/>
                    <a:pt x="627807" y="90976"/>
                    <a:pt x="627807" y="203200"/>
                  </a:cubicBezTo>
                  <a:cubicBezTo>
                    <a:pt x="627807" y="315424"/>
                    <a:pt x="536832" y="406400"/>
                    <a:pt x="42460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627807"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3076846" y="2775767"/>
            <a:ext cx="11301259" cy="1836455"/>
          </a:xfrm>
          <a:custGeom>
            <a:avLst/>
            <a:gdLst/>
            <a:ahLst/>
            <a:cxnLst/>
            <a:rect r="r" b="b" t="t" l="l"/>
            <a:pathLst>
              <a:path h="1836455" w="11301259">
                <a:moveTo>
                  <a:pt x="0" y="0"/>
                </a:moveTo>
                <a:lnTo>
                  <a:pt x="11301258" y="0"/>
                </a:lnTo>
                <a:lnTo>
                  <a:pt x="11301258" y="1836455"/>
                </a:lnTo>
                <a:lnTo>
                  <a:pt x="0" y="1836455"/>
                </a:lnTo>
                <a:lnTo>
                  <a:pt x="0" y="0"/>
                </a:lnTo>
                <a:close/>
              </a:path>
            </a:pathLst>
          </a:custGeom>
          <a:blipFill>
            <a:blip r:embed="rId2"/>
            <a:stretch>
              <a:fillRect l="0" t="0" r="0" b="0"/>
            </a:stretch>
          </a:blipFill>
        </p:spPr>
      </p:sp>
      <p:sp>
        <p:nvSpPr>
          <p:cNvPr name="TextBox 21" id="21"/>
          <p:cNvSpPr txBox="true"/>
          <p:nvPr/>
        </p:nvSpPr>
        <p:spPr>
          <a:xfrm rot="0">
            <a:off x="-26989" y="602053"/>
            <a:ext cx="18341978" cy="651938"/>
          </a:xfrm>
          <a:prstGeom prst="rect">
            <a:avLst/>
          </a:prstGeom>
        </p:spPr>
        <p:txBody>
          <a:bodyPr anchor="t" rtlCol="false" tIns="0" lIns="0" bIns="0" rIns="0">
            <a:spAutoFit/>
          </a:bodyPr>
          <a:lstStyle/>
          <a:p>
            <a:pPr algn="ctr">
              <a:lnSpc>
                <a:spcPts val="4634"/>
              </a:lnSpc>
            </a:pPr>
            <a:r>
              <a:rPr lang="en-US" sz="5452">
                <a:solidFill>
                  <a:srgbClr val="545454"/>
                </a:solidFill>
                <a:latin typeface="Bold Ink"/>
                <a:ea typeface="Bold Ink"/>
                <a:cs typeface="Bold Ink"/>
                <a:sym typeface="Bold Ink"/>
              </a:rPr>
              <a:t>PERANCANGAN</a:t>
            </a:r>
          </a:p>
        </p:txBody>
      </p:sp>
      <p:sp>
        <p:nvSpPr>
          <p:cNvPr name="TextBox 22" id="22"/>
          <p:cNvSpPr txBox="true"/>
          <p:nvPr/>
        </p:nvSpPr>
        <p:spPr>
          <a:xfrm rot="0">
            <a:off x="3495676" y="1959054"/>
            <a:ext cx="3823692" cy="339726"/>
          </a:xfrm>
          <a:prstGeom prst="rect">
            <a:avLst/>
          </a:prstGeom>
        </p:spPr>
        <p:txBody>
          <a:bodyPr anchor="t" rtlCol="false" tIns="0" lIns="0" bIns="0" rIns="0">
            <a:spAutoFit/>
          </a:bodyPr>
          <a:lstStyle/>
          <a:p>
            <a:pPr algn="ctr">
              <a:lnSpc>
                <a:spcPts val="2799"/>
              </a:lnSpc>
            </a:pPr>
            <a:r>
              <a:rPr lang="en-US" sz="1999">
                <a:solidFill>
                  <a:srgbClr val="545454"/>
                </a:solidFill>
                <a:latin typeface="Open Sans"/>
                <a:ea typeface="Open Sans"/>
                <a:cs typeface="Open Sans"/>
                <a:sym typeface="Open Sans"/>
              </a:rPr>
              <a:t>g.  isi dari table tingkatan_kamar</a:t>
            </a:r>
          </a:p>
        </p:txBody>
      </p:sp>
      <p:sp>
        <p:nvSpPr>
          <p:cNvPr name="TextBox 23" id="23"/>
          <p:cNvSpPr txBox="true"/>
          <p:nvPr/>
        </p:nvSpPr>
        <p:spPr>
          <a:xfrm rot="0">
            <a:off x="4005187" y="5051110"/>
            <a:ext cx="9179420" cy="1397001"/>
          </a:xfrm>
          <a:prstGeom prst="rect">
            <a:avLst/>
          </a:prstGeom>
        </p:spPr>
        <p:txBody>
          <a:bodyPr anchor="t" rtlCol="false" tIns="0" lIns="0" bIns="0" rIns="0">
            <a:spAutoFit/>
          </a:bodyPr>
          <a:lstStyle/>
          <a:p>
            <a:pPr algn="l">
              <a:lnSpc>
                <a:spcPts val="2799"/>
              </a:lnSpc>
            </a:pPr>
            <a:r>
              <a:rPr lang="en-US" sz="1999">
                <a:solidFill>
                  <a:srgbClr val="545454"/>
                </a:solidFill>
                <a:latin typeface="Open Sans"/>
                <a:ea typeface="Open Sans"/>
                <a:cs typeface="Open Sans"/>
                <a:sym typeface="Open Sans"/>
              </a:rPr>
              <a:t>table tingkatan_kamar fungsinya untuk memasukan kategori yang akan buat,  </a:t>
            </a:r>
          </a:p>
          <a:p>
            <a:pPr algn="l">
              <a:lnSpc>
                <a:spcPts val="2799"/>
              </a:lnSpc>
            </a:pPr>
            <a:r>
              <a:rPr lang="en-US" sz="1999">
                <a:solidFill>
                  <a:srgbClr val="545454"/>
                </a:solidFill>
                <a:latin typeface="Open Sans"/>
                <a:ea typeface="Open Sans"/>
                <a:cs typeface="Open Sans"/>
                <a:sym typeface="Open Sans"/>
              </a:rPr>
              <a:t>nantinya user bisa memilih kamar yang dipilih sesuai dengan kategori kamar yang telah kita buat. </a:t>
            </a:r>
          </a:p>
          <a:p>
            <a:pPr algn="l">
              <a:lnSpc>
                <a:spcPts val="2799"/>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63849" y="7784323"/>
            <a:ext cx="8132490" cy="4066245"/>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5760647" y="-1537845"/>
            <a:ext cx="8664509" cy="4332254"/>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2345726" y="-1477174"/>
            <a:ext cx="2878425" cy="1863298"/>
            <a:chOff x="0" y="0"/>
            <a:chExt cx="627807" cy="406400"/>
          </a:xfrm>
        </p:grpSpPr>
        <p:sp>
          <p:nvSpPr>
            <p:cNvPr name="Freeform 18" id="18"/>
            <p:cNvSpPr/>
            <p:nvPr/>
          </p:nvSpPr>
          <p:spPr>
            <a:xfrm flipH="false" flipV="false" rot="0">
              <a:off x="0" y="0"/>
              <a:ext cx="627807" cy="406400"/>
            </a:xfrm>
            <a:custGeom>
              <a:avLst/>
              <a:gdLst/>
              <a:ahLst/>
              <a:cxnLst/>
              <a:rect r="r" b="b" t="t" l="l"/>
              <a:pathLst>
                <a:path h="406400" w="627807">
                  <a:moveTo>
                    <a:pt x="424607" y="0"/>
                  </a:moveTo>
                  <a:cubicBezTo>
                    <a:pt x="536832" y="0"/>
                    <a:pt x="627807" y="90976"/>
                    <a:pt x="627807" y="203200"/>
                  </a:cubicBezTo>
                  <a:cubicBezTo>
                    <a:pt x="627807" y="315424"/>
                    <a:pt x="536832" y="406400"/>
                    <a:pt x="42460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627807"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3076846" y="2620375"/>
            <a:ext cx="11301259" cy="2147239"/>
          </a:xfrm>
          <a:custGeom>
            <a:avLst/>
            <a:gdLst/>
            <a:ahLst/>
            <a:cxnLst/>
            <a:rect r="r" b="b" t="t" l="l"/>
            <a:pathLst>
              <a:path h="2147239" w="11301259">
                <a:moveTo>
                  <a:pt x="0" y="0"/>
                </a:moveTo>
                <a:lnTo>
                  <a:pt x="11301258" y="0"/>
                </a:lnTo>
                <a:lnTo>
                  <a:pt x="11301258" y="2147239"/>
                </a:lnTo>
                <a:lnTo>
                  <a:pt x="0" y="2147239"/>
                </a:lnTo>
                <a:lnTo>
                  <a:pt x="0" y="0"/>
                </a:lnTo>
                <a:close/>
              </a:path>
            </a:pathLst>
          </a:custGeom>
          <a:blipFill>
            <a:blip r:embed="rId2"/>
            <a:stretch>
              <a:fillRect l="0" t="0" r="0" b="0"/>
            </a:stretch>
          </a:blipFill>
        </p:spPr>
      </p:sp>
      <p:sp>
        <p:nvSpPr>
          <p:cNvPr name="TextBox 21" id="21"/>
          <p:cNvSpPr txBox="true"/>
          <p:nvPr/>
        </p:nvSpPr>
        <p:spPr>
          <a:xfrm rot="0">
            <a:off x="-26989" y="602053"/>
            <a:ext cx="18341978" cy="651938"/>
          </a:xfrm>
          <a:prstGeom prst="rect">
            <a:avLst/>
          </a:prstGeom>
        </p:spPr>
        <p:txBody>
          <a:bodyPr anchor="t" rtlCol="false" tIns="0" lIns="0" bIns="0" rIns="0">
            <a:spAutoFit/>
          </a:bodyPr>
          <a:lstStyle/>
          <a:p>
            <a:pPr algn="ctr">
              <a:lnSpc>
                <a:spcPts val="4634"/>
              </a:lnSpc>
            </a:pPr>
            <a:r>
              <a:rPr lang="en-US" sz="5452">
                <a:solidFill>
                  <a:srgbClr val="545454"/>
                </a:solidFill>
                <a:latin typeface="Bold Ink"/>
                <a:ea typeface="Bold Ink"/>
                <a:cs typeface="Bold Ink"/>
                <a:sym typeface="Bold Ink"/>
              </a:rPr>
              <a:t>PERANCANGAN</a:t>
            </a:r>
          </a:p>
        </p:txBody>
      </p:sp>
      <p:sp>
        <p:nvSpPr>
          <p:cNvPr name="TextBox 22" id="22"/>
          <p:cNvSpPr txBox="true"/>
          <p:nvPr/>
        </p:nvSpPr>
        <p:spPr>
          <a:xfrm rot="0">
            <a:off x="3778549" y="1959054"/>
            <a:ext cx="3257947" cy="339726"/>
          </a:xfrm>
          <a:prstGeom prst="rect">
            <a:avLst/>
          </a:prstGeom>
        </p:spPr>
        <p:txBody>
          <a:bodyPr anchor="t" rtlCol="false" tIns="0" lIns="0" bIns="0" rIns="0">
            <a:spAutoFit/>
          </a:bodyPr>
          <a:lstStyle/>
          <a:p>
            <a:pPr algn="ctr">
              <a:lnSpc>
                <a:spcPts val="2799"/>
              </a:lnSpc>
            </a:pPr>
            <a:r>
              <a:rPr lang="en-US" sz="1999">
                <a:solidFill>
                  <a:srgbClr val="545454"/>
                </a:solidFill>
                <a:latin typeface="Open Sans"/>
                <a:ea typeface="Open Sans"/>
                <a:cs typeface="Open Sans"/>
                <a:sym typeface="Open Sans"/>
              </a:rPr>
              <a:t>h.  isi dari table data_kamar</a:t>
            </a:r>
          </a:p>
        </p:txBody>
      </p:sp>
      <p:sp>
        <p:nvSpPr>
          <p:cNvPr name="TextBox 23" id="23"/>
          <p:cNvSpPr txBox="true"/>
          <p:nvPr/>
        </p:nvSpPr>
        <p:spPr>
          <a:xfrm rot="0">
            <a:off x="4005187" y="5051110"/>
            <a:ext cx="9179420" cy="1397001"/>
          </a:xfrm>
          <a:prstGeom prst="rect">
            <a:avLst/>
          </a:prstGeom>
        </p:spPr>
        <p:txBody>
          <a:bodyPr anchor="t" rtlCol="false" tIns="0" lIns="0" bIns="0" rIns="0">
            <a:spAutoFit/>
          </a:bodyPr>
          <a:lstStyle/>
          <a:p>
            <a:pPr algn="l">
              <a:lnSpc>
                <a:spcPts val="2799"/>
              </a:lnSpc>
            </a:pPr>
            <a:r>
              <a:rPr lang="en-US" sz="1999">
                <a:solidFill>
                  <a:srgbClr val="545454"/>
                </a:solidFill>
                <a:latin typeface="Open Sans"/>
                <a:ea typeface="Open Sans"/>
                <a:cs typeface="Open Sans"/>
                <a:sym typeface="Open Sans"/>
              </a:rPr>
              <a:t>untuk table data_kamar ini fungsinya untuk memasukan kamar yang akan di </a:t>
            </a:r>
          </a:p>
          <a:p>
            <a:pPr algn="l">
              <a:lnSpc>
                <a:spcPts val="2799"/>
              </a:lnSpc>
            </a:pPr>
            <a:r>
              <a:rPr lang="en-US" sz="1999">
                <a:solidFill>
                  <a:srgbClr val="545454"/>
                </a:solidFill>
                <a:latin typeface="Open Sans"/>
                <a:ea typeface="Open Sans"/>
                <a:cs typeface="Open Sans"/>
                <a:sym typeface="Open Sans"/>
              </a:rPr>
              <a:t>pesan dan user bisa memilih nama tingkatan kamar dan jumlah kamar yang di pesan nya berapa. </a:t>
            </a:r>
          </a:p>
          <a:p>
            <a:pPr algn="l">
              <a:lnSpc>
                <a:spcPts val="2799"/>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63849" y="7784323"/>
            <a:ext cx="8132490" cy="4066245"/>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5760647" y="-1537845"/>
            <a:ext cx="8664509" cy="4332254"/>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2345726" y="-1477174"/>
            <a:ext cx="2878425" cy="1863298"/>
            <a:chOff x="0" y="0"/>
            <a:chExt cx="627807" cy="406400"/>
          </a:xfrm>
        </p:grpSpPr>
        <p:sp>
          <p:nvSpPr>
            <p:cNvPr name="Freeform 18" id="18"/>
            <p:cNvSpPr/>
            <p:nvPr/>
          </p:nvSpPr>
          <p:spPr>
            <a:xfrm flipH="false" flipV="false" rot="0">
              <a:off x="0" y="0"/>
              <a:ext cx="627807" cy="406400"/>
            </a:xfrm>
            <a:custGeom>
              <a:avLst/>
              <a:gdLst/>
              <a:ahLst/>
              <a:cxnLst/>
              <a:rect r="r" b="b" t="t" l="l"/>
              <a:pathLst>
                <a:path h="406400" w="627807">
                  <a:moveTo>
                    <a:pt x="424607" y="0"/>
                  </a:moveTo>
                  <a:cubicBezTo>
                    <a:pt x="536832" y="0"/>
                    <a:pt x="627807" y="90976"/>
                    <a:pt x="627807" y="203200"/>
                  </a:cubicBezTo>
                  <a:cubicBezTo>
                    <a:pt x="627807" y="315424"/>
                    <a:pt x="536832" y="406400"/>
                    <a:pt x="42460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627807"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3076846" y="2707208"/>
            <a:ext cx="11301259" cy="3672909"/>
          </a:xfrm>
          <a:custGeom>
            <a:avLst/>
            <a:gdLst/>
            <a:ahLst/>
            <a:cxnLst/>
            <a:rect r="r" b="b" t="t" l="l"/>
            <a:pathLst>
              <a:path h="3672909" w="11301259">
                <a:moveTo>
                  <a:pt x="0" y="0"/>
                </a:moveTo>
                <a:lnTo>
                  <a:pt x="11301258" y="0"/>
                </a:lnTo>
                <a:lnTo>
                  <a:pt x="11301258" y="3672909"/>
                </a:lnTo>
                <a:lnTo>
                  <a:pt x="0" y="3672909"/>
                </a:lnTo>
                <a:lnTo>
                  <a:pt x="0" y="0"/>
                </a:lnTo>
                <a:close/>
              </a:path>
            </a:pathLst>
          </a:custGeom>
          <a:blipFill>
            <a:blip r:embed="rId2"/>
            <a:stretch>
              <a:fillRect l="0" t="0" r="0" b="0"/>
            </a:stretch>
          </a:blipFill>
        </p:spPr>
      </p:sp>
      <p:sp>
        <p:nvSpPr>
          <p:cNvPr name="TextBox 21" id="21"/>
          <p:cNvSpPr txBox="true"/>
          <p:nvPr/>
        </p:nvSpPr>
        <p:spPr>
          <a:xfrm rot="0">
            <a:off x="-26989" y="602053"/>
            <a:ext cx="18341978" cy="651938"/>
          </a:xfrm>
          <a:prstGeom prst="rect">
            <a:avLst/>
          </a:prstGeom>
        </p:spPr>
        <p:txBody>
          <a:bodyPr anchor="t" rtlCol="false" tIns="0" lIns="0" bIns="0" rIns="0">
            <a:spAutoFit/>
          </a:bodyPr>
          <a:lstStyle/>
          <a:p>
            <a:pPr algn="ctr">
              <a:lnSpc>
                <a:spcPts val="4634"/>
              </a:lnSpc>
            </a:pPr>
            <a:r>
              <a:rPr lang="en-US" sz="5452">
                <a:solidFill>
                  <a:srgbClr val="545454"/>
                </a:solidFill>
                <a:latin typeface="Bold Ink"/>
                <a:ea typeface="Bold Ink"/>
                <a:cs typeface="Bold Ink"/>
                <a:sym typeface="Bold Ink"/>
              </a:rPr>
              <a:t>PERANCANGAN</a:t>
            </a:r>
          </a:p>
        </p:txBody>
      </p:sp>
      <p:sp>
        <p:nvSpPr>
          <p:cNvPr name="TextBox 22" id="22"/>
          <p:cNvSpPr txBox="true"/>
          <p:nvPr/>
        </p:nvSpPr>
        <p:spPr>
          <a:xfrm rot="0">
            <a:off x="3654625" y="1959054"/>
            <a:ext cx="3505795" cy="339726"/>
          </a:xfrm>
          <a:prstGeom prst="rect">
            <a:avLst/>
          </a:prstGeom>
        </p:spPr>
        <p:txBody>
          <a:bodyPr anchor="t" rtlCol="false" tIns="0" lIns="0" bIns="0" rIns="0">
            <a:spAutoFit/>
          </a:bodyPr>
          <a:lstStyle/>
          <a:p>
            <a:pPr algn="ctr">
              <a:lnSpc>
                <a:spcPts val="2799"/>
              </a:lnSpc>
            </a:pPr>
            <a:r>
              <a:rPr lang="en-US" sz="1999">
                <a:solidFill>
                  <a:srgbClr val="545454"/>
                </a:solidFill>
                <a:latin typeface="Open Sans"/>
                <a:ea typeface="Open Sans"/>
                <a:cs typeface="Open Sans"/>
                <a:sym typeface="Open Sans"/>
              </a:rPr>
              <a:t>i.  isi dari table data_pemesan</a:t>
            </a:r>
          </a:p>
        </p:txBody>
      </p:sp>
      <p:sp>
        <p:nvSpPr>
          <p:cNvPr name="TextBox 23" id="23"/>
          <p:cNvSpPr txBox="true"/>
          <p:nvPr/>
        </p:nvSpPr>
        <p:spPr>
          <a:xfrm rot="0">
            <a:off x="3784938" y="6751592"/>
            <a:ext cx="9179420" cy="1044576"/>
          </a:xfrm>
          <a:prstGeom prst="rect">
            <a:avLst/>
          </a:prstGeom>
        </p:spPr>
        <p:txBody>
          <a:bodyPr anchor="t" rtlCol="false" tIns="0" lIns="0" bIns="0" rIns="0">
            <a:spAutoFit/>
          </a:bodyPr>
          <a:lstStyle/>
          <a:p>
            <a:pPr algn="l">
              <a:lnSpc>
                <a:spcPts val="2799"/>
              </a:lnSpc>
            </a:pPr>
            <a:r>
              <a:rPr lang="en-US" sz="1999">
                <a:solidFill>
                  <a:srgbClr val="545454"/>
                </a:solidFill>
                <a:latin typeface="Open Sans"/>
                <a:ea typeface="Open Sans"/>
                <a:cs typeface="Open Sans"/>
                <a:sym typeface="Open Sans"/>
              </a:rPr>
              <a:t>ini untuk table data_pemesanan fungsinya untuk admin agar bisa melihat hasil  pemesanan yang telah di pesan oleh user, admin bisa mengeceknya. </a:t>
            </a:r>
          </a:p>
          <a:p>
            <a:pPr algn="l">
              <a:lnSpc>
                <a:spcPts val="2799"/>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63849" y="7784323"/>
            <a:ext cx="8132490" cy="4066245"/>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5760647" y="-1537845"/>
            <a:ext cx="8664509" cy="4332254"/>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2345726" y="-1477174"/>
            <a:ext cx="2878425" cy="1863298"/>
            <a:chOff x="0" y="0"/>
            <a:chExt cx="627807" cy="406400"/>
          </a:xfrm>
        </p:grpSpPr>
        <p:sp>
          <p:nvSpPr>
            <p:cNvPr name="Freeform 18" id="18"/>
            <p:cNvSpPr/>
            <p:nvPr/>
          </p:nvSpPr>
          <p:spPr>
            <a:xfrm flipH="false" flipV="false" rot="0">
              <a:off x="0" y="0"/>
              <a:ext cx="627807" cy="406400"/>
            </a:xfrm>
            <a:custGeom>
              <a:avLst/>
              <a:gdLst/>
              <a:ahLst/>
              <a:cxnLst/>
              <a:rect r="r" b="b" t="t" l="l"/>
              <a:pathLst>
                <a:path h="406400" w="627807">
                  <a:moveTo>
                    <a:pt x="424607" y="0"/>
                  </a:moveTo>
                  <a:cubicBezTo>
                    <a:pt x="536832" y="0"/>
                    <a:pt x="627807" y="90976"/>
                    <a:pt x="627807" y="203200"/>
                  </a:cubicBezTo>
                  <a:cubicBezTo>
                    <a:pt x="627807" y="315424"/>
                    <a:pt x="536832" y="406400"/>
                    <a:pt x="42460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627807"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5750038" y="3927523"/>
            <a:ext cx="5744882" cy="5264713"/>
          </a:xfrm>
          <a:custGeom>
            <a:avLst/>
            <a:gdLst/>
            <a:ahLst/>
            <a:cxnLst/>
            <a:rect r="r" b="b" t="t" l="l"/>
            <a:pathLst>
              <a:path h="5264713" w="5744882">
                <a:moveTo>
                  <a:pt x="0" y="0"/>
                </a:moveTo>
                <a:lnTo>
                  <a:pt x="5744882" y="0"/>
                </a:lnTo>
                <a:lnTo>
                  <a:pt x="5744882" y="5264712"/>
                </a:lnTo>
                <a:lnTo>
                  <a:pt x="0" y="5264712"/>
                </a:lnTo>
                <a:lnTo>
                  <a:pt x="0" y="0"/>
                </a:lnTo>
                <a:close/>
              </a:path>
            </a:pathLst>
          </a:custGeom>
          <a:blipFill>
            <a:blip r:embed="rId2"/>
            <a:stretch>
              <a:fillRect l="0" t="0" r="0" b="0"/>
            </a:stretch>
          </a:blipFill>
        </p:spPr>
      </p:sp>
      <p:sp>
        <p:nvSpPr>
          <p:cNvPr name="TextBox 21" id="21"/>
          <p:cNvSpPr txBox="true"/>
          <p:nvPr/>
        </p:nvSpPr>
        <p:spPr>
          <a:xfrm rot="0">
            <a:off x="-26989" y="602053"/>
            <a:ext cx="18341978" cy="651938"/>
          </a:xfrm>
          <a:prstGeom prst="rect">
            <a:avLst/>
          </a:prstGeom>
        </p:spPr>
        <p:txBody>
          <a:bodyPr anchor="t" rtlCol="false" tIns="0" lIns="0" bIns="0" rIns="0">
            <a:spAutoFit/>
          </a:bodyPr>
          <a:lstStyle/>
          <a:p>
            <a:pPr algn="ctr">
              <a:lnSpc>
                <a:spcPts val="4634"/>
              </a:lnSpc>
            </a:pPr>
            <a:r>
              <a:rPr lang="en-US" sz="5452">
                <a:solidFill>
                  <a:srgbClr val="545454"/>
                </a:solidFill>
                <a:latin typeface="Bold Ink"/>
                <a:ea typeface="Bold Ink"/>
                <a:cs typeface="Bold Ink"/>
                <a:sym typeface="Bold Ink"/>
              </a:rPr>
              <a:t>PERANCANGAN</a:t>
            </a:r>
          </a:p>
        </p:txBody>
      </p:sp>
      <p:sp>
        <p:nvSpPr>
          <p:cNvPr name="TextBox 22" id="22"/>
          <p:cNvSpPr txBox="true"/>
          <p:nvPr/>
        </p:nvSpPr>
        <p:spPr>
          <a:xfrm rot="0">
            <a:off x="2746922" y="1959054"/>
            <a:ext cx="5321201" cy="692151"/>
          </a:xfrm>
          <a:prstGeom prst="rect">
            <a:avLst/>
          </a:prstGeom>
        </p:spPr>
        <p:txBody>
          <a:bodyPr anchor="t" rtlCol="false" tIns="0" lIns="0" bIns="0" rIns="0">
            <a:spAutoFit/>
          </a:bodyPr>
          <a:lstStyle/>
          <a:p>
            <a:pPr algn="ctr">
              <a:lnSpc>
                <a:spcPts val="2799"/>
              </a:lnSpc>
            </a:pPr>
            <a:r>
              <a:rPr lang="en-US" sz="1999">
                <a:solidFill>
                  <a:srgbClr val="545454"/>
                </a:solidFill>
                <a:latin typeface="Open Sans"/>
                <a:ea typeface="Open Sans"/>
                <a:cs typeface="Open Sans"/>
                <a:sym typeface="Open Sans"/>
              </a:rPr>
              <a:t>j. rancangan From aplikasi pemesanan Hotel </a:t>
            </a:r>
          </a:p>
          <a:p>
            <a:pPr algn="ctr">
              <a:lnSpc>
                <a:spcPts val="2799"/>
              </a:lnSpc>
            </a:pPr>
          </a:p>
        </p:txBody>
      </p:sp>
      <p:sp>
        <p:nvSpPr>
          <p:cNvPr name="TextBox 23" id="23"/>
          <p:cNvSpPr txBox="true"/>
          <p:nvPr/>
        </p:nvSpPr>
        <p:spPr>
          <a:xfrm rot="0">
            <a:off x="3615532" y="2825720"/>
            <a:ext cx="9179420" cy="1044576"/>
          </a:xfrm>
          <a:prstGeom prst="rect">
            <a:avLst/>
          </a:prstGeom>
        </p:spPr>
        <p:txBody>
          <a:bodyPr anchor="t" rtlCol="false" tIns="0" lIns="0" bIns="0" rIns="0">
            <a:spAutoFit/>
          </a:bodyPr>
          <a:lstStyle/>
          <a:p>
            <a:pPr algn="l">
              <a:lnSpc>
                <a:spcPts val="2799"/>
              </a:lnSpc>
            </a:pPr>
            <a:r>
              <a:rPr lang="en-US" sz="1999">
                <a:solidFill>
                  <a:srgbClr val="545454"/>
                </a:solidFill>
                <a:latin typeface="Open Sans"/>
                <a:ea typeface="Open Sans"/>
                <a:cs typeface="Open Sans"/>
                <a:sym typeface="Open Sans"/>
              </a:rPr>
              <a:t> Membuat JFrame di aplikasi netbeans dengan menggunakan Bahasa java ini di beberapa file yang telah kita buat : </a:t>
            </a:r>
          </a:p>
          <a:p>
            <a:pPr algn="l">
              <a:lnSpc>
                <a:spcPts val="2799"/>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63849" y="7784323"/>
            <a:ext cx="8132490" cy="4066245"/>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5760647" y="-1537845"/>
            <a:ext cx="8664509" cy="4332254"/>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2345726" y="-1477174"/>
            <a:ext cx="2878425" cy="1863298"/>
            <a:chOff x="0" y="0"/>
            <a:chExt cx="627807" cy="406400"/>
          </a:xfrm>
        </p:grpSpPr>
        <p:sp>
          <p:nvSpPr>
            <p:cNvPr name="Freeform 18" id="18"/>
            <p:cNvSpPr/>
            <p:nvPr/>
          </p:nvSpPr>
          <p:spPr>
            <a:xfrm flipH="false" flipV="false" rot="0">
              <a:off x="0" y="0"/>
              <a:ext cx="627807" cy="406400"/>
            </a:xfrm>
            <a:custGeom>
              <a:avLst/>
              <a:gdLst/>
              <a:ahLst/>
              <a:cxnLst/>
              <a:rect r="r" b="b" t="t" l="l"/>
              <a:pathLst>
                <a:path h="406400" w="627807">
                  <a:moveTo>
                    <a:pt x="424607" y="0"/>
                  </a:moveTo>
                  <a:cubicBezTo>
                    <a:pt x="536832" y="0"/>
                    <a:pt x="627807" y="90976"/>
                    <a:pt x="627807" y="203200"/>
                  </a:cubicBezTo>
                  <a:cubicBezTo>
                    <a:pt x="627807" y="315424"/>
                    <a:pt x="536832" y="406400"/>
                    <a:pt x="42460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627807"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6003419" y="2651204"/>
            <a:ext cx="6281161" cy="5509791"/>
          </a:xfrm>
          <a:custGeom>
            <a:avLst/>
            <a:gdLst/>
            <a:ahLst/>
            <a:cxnLst/>
            <a:rect r="r" b="b" t="t" l="l"/>
            <a:pathLst>
              <a:path h="5509791" w="6281161">
                <a:moveTo>
                  <a:pt x="0" y="0"/>
                </a:moveTo>
                <a:lnTo>
                  <a:pt x="6281162" y="0"/>
                </a:lnTo>
                <a:lnTo>
                  <a:pt x="6281162" y="5509791"/>
                </a:lnTo>
                <a:lnTo>
                  <a:pt x="0" y="5509791"/>
                </a:lnTo>
                <a:lnTo>
                  <a:pt x="0" y="0"/>
                </a:lnTo>
                <a:close/>
              </a:path>
            </a:pathLst>
          </a:custGeom>
          <a:blipFill>
            <a:blip r:embed="rId2"/>
            <a:stretch>
              <a:fillRect l="0" t="0" r="0" b="0"/>
            </a:stretch>
          </a:blipFill>
        </p:spPr>
      </p:sp>
      <p:sp>
        <p:nvSpPr>
          <p:cNvPr name="TextBox 21" id="21"/>
          <p:cNvSpPr txBox="true"/>
          <p:nvPr/>
        </p:nvSpPr>
        <p:spPr>
          <a:xfrm rot="0">
            <a:off x="-26989" y="602053"/>
            <a:ext cx="18341978" cy="651938"/>
          </a:xfrm>
          <a:prstGeom prst="rect">
            <a:avLst/>
          </a:prstGeom>
        </p:spPr>
        <p:txBody>
          <a:bodyPr anchor="t" rtlCol="false" tIns="0" lIns="0" bIns="0" rIns="0">
            <a:spAutoFit/>
          </a:bodyPr>
          <a:lstStyle/>
          <a:p>
            <a:pPr algn="ctr">
              <a:lnSpc>
                <a:spcPts val="4634"/>
              </a:lnSpc>
            </a:pPr>
            <a:r>
              <a:rPr lang="en-US" sz="5452">
                <a:solidFill>
                  <a:srgbClr val="545454"/>
                </a:solidFill>
                <a:latin typeface="Bold Ink"/>
                <a:ea typeface="Bold Ink"/>
                <a:cs typeface="Bold Ink"/>
                <a:sym typeface="Bold Ink"/>
              </a:rPr>
              <a:t>DESAIN PROGRAM</a:t>
            </a:r>
          </a:p>
        </p:txBody>
      </p:sp>
      <p:sp>
        <p:nvSpPr>
          <p:cNvPr name="TextBox 22" id="22"/>
          <p:cNvSpPr txBox="true"/>
          <p:nvPr/>
        </p:nvSpPr>
        <p:spPr>
          <a:xfrm rot="0">
            <a:off x="4089748" y="1959054"/>
            <a:ext cx="2635548" cy="692151"/>
          </a:xfrm>
          <a:prstGeom prst="rect">
            <a:avLst/>
          </a:prstGeom>
        </p:spPr>
        <p:txBody>
          <a:bodyPr anchor="t" rtlCol="false" tIns="0" lIns="0" bIns="0" rIns="0">
            <a:spAutoFit/>
          </a:bodyPr>
          <a:lstStyle/>
          <a:p>
            <a:pPr algn="ctr">
              <a:lnSpc>
                <a:spcPts val="2799"/>
              </a:lnSpc>
            </a:pPr>
            <a:r>
              <a:rPr lang="en-US" sz="1999" b="true">
                <a:solidFill>
                  <a:srgbClr val="545454"/>
                </a:solidFill>
                <a:latin typeface="Open Sans Bold"/>
                <a:ea typeface="Open Sans Bold"/>
                <a:cs typeface="Open Sans Bold"/>
                <a:sym typeface="Open Sans Bold"/>
              </a:rPr>
              <a:t>a. Desain From login </a:t>
            </a:r>
          </a:p>
          <a:p>
            <a:pPr algn="ctr">
              <a:lnSpc>
                <a:spcPts val="2799"/>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63849" y="7784323"/>
            <a:ext cx="8132490" cy="4066245"/>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5760647" y="-1537845"/>
            <a:ext cx="8664509" cy="4332254"/>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2345726" y="-1477174"/>
            <a:ext cx="2878425" cy="1863298"/>
            <a:chOff x="0" y="0"/>
            <a:chExt cx="627807" cy="406400"/>
          </a:xfrm>
        </p:grpSpPr>
        <p:sp>
          <p:nvSpPr>
            <p:cNvPr name="Freeform 18" id="18"/>
            <p:cNvSpPr/>
            <p:nvPr/>
          </p:nvSpPr>
          <p:spPr>
            <a:xfrm flipH="false" flipV="false" rot="0">
              <a:off x="0" y="0"/>
              <a:ext cx="627807" cy="406400"/>
            </a:xfrm>
            <a:custGeom>
              <a:avLst/>
              <a:gdLst/>
              <a:ahLst/>
              <a:cxnLst/>
              <a:rect r="r" b="b" t="t" l="l"/>
              <a:pathLst>
                <a:path h="406400" w="627807">
                  <a:moveTo>
                    <a:pt x="424607" y="0"/>
                  </a:moveTo>
                  <a:cubicBezTo>
                    <a:pt x="536832" y="0"/>
                    <a:pt x="627807" y="90976"/>
                    <a:pt x="627807" y="203200"/>
                  </a:cubicBezTo>
                  <a:cubicBezTo>
                    <a:pt x="627807" y="315424"/>
                    <a:pt x="536832" y="406400"/>
                    <a:pt x="42460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627807"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5407522" y="2651204"/>
            <a:ext cx="6696378" cy="5427901"/>
          </a:xfrm>
          <a:custGeom>
            <a:avLst/>
            <a:gdLst/>
            <a:ahLst/>
            <a:cxnLst/>
            <a:rect r="r" b="b" t="t" l="l"/>
            <a:pathLst>
              <a:path h="5427901" w="6696378">
                <a:moveTo>
                  <a:pt x="0" y="0"/>
                </a:moveTo>
                <a:lnTo>
                  <a:pt x="6696378" y="0"/>
                </a:lnTo>
                <a:lnTo>
                  <a:pt x="6696378" y="5427901"/>
                </a:lnTo>
                <a:lnTo>
                  <a:pt x="0" y="5427901"/>
                </a:lnTo>
                <a:lnTo>
                  <a:pt x="0" y="0"/>
                </a:lnTo>
                <a:close/>
              </a:path>
            </a:pathLst>
          </a:custGeom>
          <a:blipFill>
            <a:blip r:embed="rId2"/>
            <a:stretch>
              <a:fillRect l="0" t="0" r="0" b="0"/>
            </a:stretch>
          </a:blipFill>
        </p:spPr>
      </p:sp>
      <p:sp>
        <p:nvSpPr>
          <p:cNvPr name="TextBox 21" id="21"/>
          <p:cNvSpPr txBox="true"/>
          <p:nvPr/>
        </p:nvSpPr>
        <p:spPr>
          <a:xfrm rot="0">
            <a:off x="-26989" y="602053"/>
            <a:ext cx="18341978" cy="651938"/>
          </a:xfrm>
          <a:prstGeom prst="rect">
            <a:avLst/>
          </a:prstGeom>
        </p:spPr>
        <p:txBody>
          <a:bodyPr anchor="t" rtlCol="false" tIns="0" lIns="0" bIns="0" rIns="0">
            <a:spAutoFit/>
          </a:bodyPr>
          <a:lstStyle/>
          <a:p>
            <a:pPr algn="ctr">
              <a:lnSpc>
                <a:spcPts val="4634"/>
              </a:lnSpc>
            </a:pPr>
            <a:r>
              <a:rPr lang="en-US" sz="5452">
                <a:solidFill>
                  <a:srgbClr val="545454"/>
                </a:solidFill>
                <a:latin typeface="Bold Ink"/>
                <a:ea typeface="Bold Ink"/>
                <a:cs typeface="Bold Ink"/>
                <a:sym typeface="Bold Ink"/>
              </a:rPr>
              <a:t>DESAIN PROGRAM</a:t>
            </a:r>
          </a:p>
        </p:txBody>
      </p:sp>
      <p:sp>
        <p:nvSpPr>
          <p:cNvPr name="TextBox 22" id="22"/>
          <p:cNvSpPr txBox="true"/>
          <p:nvPr/>
        </p:nvSpPr>
        <p:spPr>
          <a:xfrm rot="0">
            <a:off x="3587950" y="1959054"/>
            <a:ext cx="3639145" cy="692151"/>
          </a:xfrm>
          <a:prstGeom prst="rect">
            <a:avLst/>
          </a:prstGeom>
        </p:spPr>
        <p:txBody>
          <a:bodyPr anchor="t" rtlCol="false" tIns="0" lIns="0" bIns="0" rIns="0">
            <a:spAutoFit/>
          </a:bodyPr>
          <a:lstStyle/>
          <a:p>
            <a:pPr algn="ctr">
              <a:lnSpc>
                <a:spcPts val="2799"/>
              </a:lnSpc>
            </a:pPr>
            <a:r>
              <a:rPr lang="en-US" sz="1999" b="true">
                <a:solidFill>
                  <a:srgbClr val="545454"/>
                </a:solidFill>
                <a:latin typeface="Open Sans Bold"/>
                <a:ea typeface="Open Sans Bold"/>
                <a:cs typeface="Open Sans Bold"/>
                <a:sym typeface="Open Sans Bold"/>
              </a:rPr>
              <a:t>b. Desain From Menu Admin </a:t>
            </a:r>
          </a:p>
          <a:p>
            <a:pPr algn="ctr">
              <a:lnSpc>
                <a:spcPts val="2799"/>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63849" y="7784323"/>
            <a:ext cx="8132490" cy="4066245"/>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5760647" y="-1537845"/>
            <a:ext cx="8664509" cy="4332254"/>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2345726" y="-1477174"/>
            <a:ext cx="2878425" cy="1863298"/>
            <a:chOff x="0" y="0"/>
            <a:chExt cx="627807" cy="406400"/>
          </a:xfrm>
        </p:grpSpPr>
        <p:sp>
          <p:nvSpPr>
            <p:cNvPr name="Freeform 18" id="18"/>
            <p:cNvSpPr/>
            <p:nvPr/>
          </p:nvSpPr>
          <p:spPr>
            <a:xfrm flipH="false" flipV="false" rot="0">
              <a:off x="0" y="0"/>
              <a:ext cx="627807" cy="406400"/>
            </a:xfrm>
            <a:custGeom>
              <a:avLst/>
              <a:gdLst/>
              <a:ahLst/>
              <a:cxnLst/>
              <a:rect r="r" b="b" t="t" l="l"/>
              <a:pathLst>
                <a:path h="406400" w="627807">
                  <a:moveTo>
                    <a:pt x="424607" y="0"/>
                  </a:moveTo>
                  <a:cubicBezTo>
                    <a:pt x="536832" y="0"/>
                    <a:pt x="627807" y="90976"/>
                    <a:pt x="627807" y="203200"/>
                  </a:cubicBezTo>
                  <a:cubicBezTo>
                    <a:pt x="627807" y="315424"/>
                    <a:pt x="536832" y="406400"/>
                    <a:pt x="42460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627807"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4506359" y="2651204"/>
            <a:ext cx="9275282" cy="5739081"/>
          </a:xfrm>
          <a:custGeom>
            <a:avLst/>
            <a:gdLst/>
            <a:ahLst/>
            <a:cxnLst/>
            <a:rect r="r" b="b" t="t" l="l"/>
            <a:pathLst>
              <a:path h="5739081" w="9275282">
                <a:moveTo>
                  <a:pt x="0" y="0"/>
                </a:moveTo>
                <a:lnTo>
                  <a:pt x="9275282" y="0"/>
                </a:lnTo>
                <a:lnTo>
                  <a:pt x="9275282" y="5739081"/>
                </a:lnTo>
                <a:lnTo>
                  <a:pt x="0" y="5739081"/>
                </a:lnTo>
                <a:lnTo>
                  <a:pt x="0" y="0"/>
                </a:lnTo>
                <a:close/>
              </a:path>
            </a:pathLst>
          </a:custGeom>
          <a:blipFill>
            <a:blip r:embed="rId2"/>
            <a:stretch>
              <a:fillRect l="0" t="0" r="0" b="0"/>
            </a:stretch>
          </a:blipFill>
        </p:spPr>
      </p:sp>
      <p:sp>
        <p:nvSpPr>
          <p:cNvPr name="TextBox 21" id="21"/>
          <p:cNvSpPr txBox="true"/>
          <p:nvPr/>
        </p:nvSpPr>
        <p:spPr>
          <a:xfrm rot="0">
            <a:off x="-26989" y="602053"/>
            <a:ext cx="18341978" cy="651938"/>
          </a:xfrm>
          <a:prstGeom prst="rect">
            <a:avLst/>
          </a:prstGeom>
        </p:spPr>
        <p:txBody>
          <a:bodyPr anchor="t" rtlCol="false" tIns="0" lIns="0" bIns="0" rIns="0">
            <a:spAutoFit/>
          </a:bodyPr>
          <a:lstStyle/>
          <a:p>
            <a:pPr algn="ctr">
              <a:lnSpc>
                <a:spcPts val="4634"/>
              </a:lnSpc>
            </a:pPr>
            <a:r>
              <a:rPr lang="en-US" sz="5452">
                <a:solidFill>
                  <a:srgbClr val="545454"/>
                </a:solidFill>
                <a:latin typeface="Bold Ink"/>
                <a:ea typeface="Bold Ink"/>
                <a:cs typeface="Bold Ink"/>
                <a:sym typeface="Bold Ink"/>
              </a:rPr>
              <a:t>DESAIN PROGRAM</a:t>
            </a:r>
          </a:p>
        </p:txBody>
      </p:sp>
      <p:sp>
        <p:nvSpPr>
          <p:cNvPr name="TextBox 22" id="22"/>
          <p:cNvSpPr txBox="true"/>
          <p:nvPr/>
        </p:nvSpPr>
        <p:spPr>
          <a:xfrm rot="0">
            <a:off x="3719414" y="1959054"/>
            <a:ext cx="3376216" cy="692151"/>
          </a:xfrm>
          <a:prstGeom prst="rect">
            <a:avLst/>
          </a:prstGeom>
        </p:spPr>
        <p:txBody>
          <a:bodyPr anchor="t" rtlCol="false" tIns="0" lIns="0" bIns="0" rIns="0">
            <a:spAutoFit/>
          </a:bodyPr>
          <a:lstStyle/>
          <a:p>
            <a:pPr algn="ctr">
              <a:lnSpc>
                <a:spcPts val="2799"/>
              </a:lnSpc>
            </a:pPr>
            <a:r>
              <a:rPr lang="en-US" sz="1999" b="true">
                <a:solidFill>
                  <a:srgbClr val="545454"/>
                </a:solidFill>
                <a:latin typeface="Open Sans Bold"/>
                <a:ea typeface="Open Sans Bold"/>
                <a:cs typeface="Open Sans Bold"/>
                <a:sym typeface="Open Sans Bold"/>
              </a:rPr>
              <a:t>c. Desain Form Menu_user </a:t>
            </a:r>
          </a:p>
          <a:p>
            <a:pPr algn="ctr">
              <a:lnSpc>
                <a:spcPts val="2799"/>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63849" y="7784323"/>
            <a:ext cx="8132490" cy="4066245"/>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5760647" y="-1537845"/>
            <a:ext cx="8664509" cy="4332254"/>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2345726" y="-1477174"/>
            <a:ext cx="2878425" cy="1863298"/>
            <a:chOff x="0" y="0"/>
            <a:chExt cx="627807" cy="406400"/>
          </a:xfrm>
        </p:grpSpPr>
        <p:sp>
          <p:nvSpPr>
            <p:cNvPr name="Freeform 18" id="18"/>
            <p:cNvSpPr/>
            <p:nvPr/>
          </p:nvSpPr>
          <p:spPr>
            <a:xfrm flipH="false" flipV="false" rot="0">
              <a:off x="0" y="0"/>
              <a:ext cx="627807" cy="406400"/>
            </a:xfrm>
            <a:custGeom>
              <a:avLst/>
              <a:gdLst/>
              <a:ahLst/>
              <a:cxnLst/>
              <a:rect r="r" b="b" t="t" l="l"/>
              <a:pathLst>
                <a:path h="406400" w="627807">
                  <a:moveTo>
                    <a:pt x="424607" y="0"/>
                  </a:moveTo>
                  <a:cubicBezTo>
                    <a:pt x="536832" y="0"/>
                    <a:pt x="627807" y="90976"/>
                    <a:pt x="627807" y="203200"/>
                  </a:cubicBezTo>
                  <a:cubicBezTo>
                    <a:pt x="627807" y="315424"/>
                    <a:pt x="536832" y="406400"/>
                    <a:pt x="42460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627807"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4886083" y="2632777"/>
            <a:ext cx="8515835" cy="5865281"/>
          </a:xfrm>
          <a:custGeom>
            <a:avLst/>
            <a:gdLst/>
            <a:ahLst/>
            <a:cxnLst/>
            <a:rect r="r" b="b" t="t" l="l"/>
            <a:pathLst>
              <a:path h="5865281" w="8515835">
                <a:moveTo>
                  <a:pt x="0" y="0"/>
                </a:moveTo>
                <a:lnTo>
                  <a:pt x="8515834" y="0"/>
                </a:lnTo>
                <a:lnTo>
                  <a:pt x="8515834" y="5865281"/>
                </a:lnTo>
                <a:lnTo>
                  <a:pt x="0" y="5865281"/>
                </a:lnTo>
                <a:lnTo>
                  <a:pt x="0" y="0"/>
                </a:lnTo>
                <a:close/>
              </a:path>
            </a:pathLst>
          </a:custGeom>
          <a:blipFill>
            <a:blip r:embed="rId2"/>
            <a:stretch>
              <a:fillRect l="0" t="0" r="0" b="0"/>
            </a:stretch>
          </a:blipFill>
        </p:spPr>
      </p:sp>
      <p:sp>
        <p:nvSpPr>
          <p:cNvPr name="TextBox 21" id="21"/>
          <p:cNvSpPr txBox="true"/>
          <p:nvPr/>
        </p:nvSpPr>
        <p:spPr>
          <a:xfrm rot="0">
            <a:off x="-26989" y="602053"/>
            <a:ext cx="18341978" cy="651938"/>
          </a:xfrm>
          <a:prstGeom prst="rect">
            <a:avLst/>
          </a:prstGeom>
        </p:spPr>
        <p:txBody>
          <a:bodyPr anchor="t" rtlCol="false" tIns="0" lIns="0" bIns="0" rIns="0">
            <a:spAutoFit/>
          </a:bodyPr>
          <a:lstStyle/>
          <a:p>
            <a:pPr algn="ctr">
              <a:lnSpc>
                <a:spcPts val="4634"/>
              </a:lnSpc>
            </a:pPr>
            <a:r>
              <a:rPr lang="en-US" sz="5452">
                <a:solidFill>
                  <a:srgbClr val="545454"/>
                </a:solidFill>
                <a:latin typeface="Bold Ink"/>
                <a:ea typeface="Bold Ink"/>
                <a:cs typeface="Bold Ink"/>
                <a:sym typeface="Bold Ink"/>
              </a:rPr>
              <a:t>DESAIN PROGRAM</a:t>
            </a:r>
          </a:p>
        </p:txBody>
      </p:sp>
      <p:sp>
        <p:nvSpPr>
          <p:cNvPr name="TextBox 22" id="22"/>
          <p:cNvSpPr txBox="true"/>
          <p:nvPr/>
        </p:nvSpPr>
        <p:spPr>
          <a:xfrm rot="0">
            <a:off x="3292625" y="1959054"/>
            <a:ext cx="4229795" cy="692151"/>
          </a:xfrm>
          <a:prstGeom prst="rect">
            <a:avLst/>
          </a:prstGeom>
        </p:spPr>
        <p:txBody>
          <a:bodyPr anchor="t" rtlCol="false" tIns="0" lIns="0" bIns="0" rIns="0">
            <a:spAutoFit/>
          </a:bodyPr>
          <a:lstStyle/>
          <a:p>
            <a:pPr algn="ctr">
              <a:lnSpc>
                <a:spcPts val="2799"/>
              </a:lnSpc>
            </a:pPr>
            <a:r>
              <a:rPr lang="en-US" sz="1999" b="true">
                <a:solidFill>
                  <a:srgbClr val="545454"/>
                </a:solidFill>
                <a:latin typeface="Open Sans Bold"/>
                <a:ea typeface="Open Sans Bold"/>
                <a:cs typeface="Open Sans Bold"/>
                <a:sym typeface="Open Sans Bold"/>
              </a:rPr>
              <a:t>d. Desain Form Tingkatan_kamar </a:t>
            </a:r>
          </a:p>
          <a:p>
            <a:pPr algn="ctr">
              <a:lnSpc>
                <a:spcPts val="2799"/>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63849" y="7784323"/>
            <a:ext cx="8132490" cy="4066245"/>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5760647" y="-1537845"/>
            <a:ext cx="8664509" cy="4332254"/>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2345726" y="-1477174"/>
            <a:ext cx="2878425" cy="1863298"/>
            <a:chOff x="0" y="0"/>
            <a:chExt cx="627807" cy="406400"/>
          </a:xfrm>
        </p:grpSpPr>
        <p:sp>
          <p:nvSpPr>
            <p:cNvPr name="Freeform 18" id="18"/>
            <p:cNvSpPr/>
            <p:nvPr/>
          </p:nvSpPr>
          <p:spPr>
            <a:xfrm flipH="false" flipV="false" rot="0">
              <a:off x="0" y="0"/>
              <a:ext cx="627807" cy="406400"/>
            </a:xfrm>
            <a:custGeom>
              <a:avLst/>
              <a:gdLst/>
              <a:ahLst/>
              <a:cxnLst/>
              <a:rect r="r" b="b" t="t" l="l"/>
              <a:pathLst>
                <a:path h="406400" w="627807">
                  <a:moveTo>
                    <a:pt x="424607" y="0"/>
                  </a:moveTo>
                  <a:cubicBezTo>
                    <a:pt x="536832" y="0"/>
                    <a:pt x="627807" y="90976"/>
                    <a:pt x="627807" y="203200"/>
                  </a:cubicBezTo>
                  <a:cubicBezTo>
                    <a:pt x="627807" y="315424"/>
                    <a:pt x="536832" y="406400"/>
                    <a:pt x="42460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627807"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4712532" y="2651204"/>
            <a:ext cx="8862936" cy="5805223"/>
          </a:xfrm>
          <a:custGeom>
            <a:avLst/>
            <a:gdLst/>
            <a:ahLst/>
            <a:cxnLst/>
            <a:rect r="r" b="b" t="t" l="l"/>
            <a:pathLst>
              <a:path h="5805223" w="8862936">
                <a:moveTo>
                  <a:pt x="0" y="0"/>
                </a:moveTo>
                <a:lnTo>
                  <a:pt x="8862936" y="0"/>
                </a:lnTo>
                <a:lnTo>
                  <a:pt x="8862936" y="5805223"/>
                </a:lnTo>
                <a:lnTo>
                  <a:pt x="0" y="5805223"/>
                </a:lnTo>
                <a:lnTo>
                  <a:pt x="0" y="0"/>
                </a:lnTo>
                <a:close/>
              </a:path>
            </a:pathLst>
          </a:custGeom>
          <a:blipFill>
            <a:blip r:embed="rId2"/>
            <a:stretch>
              <a:fillRect l="0" t="0" r="0" b="0"/>
            </a:stretch>
          </a:blipFill>
        </p:spPr>
      </p:sp>
      <p:sp>
        <p:nvSpPr>
          <p:cNvPr name="TextBox 21" id="21"/>
          <p:cNvSpPr txBox="true"/>
          <p:nvPr/>
        </p:nvSpPr>
        <p:spPr>
          <a:xfrm rot="0">
            <a:off x="-26989" y="602053"/>
            <a:ext cx="18341978" cy="651938"/>
          </a:xfrm>
          <a:prstGeom prst="rect">
            <a:avLst/>
          </a:prstGeom>
        </p:spPr>
        <p:txBody>
          <a:bodyPr anchor="t" rtlCol="false" tIns="0" lIns="0" bIns="0" rIns="0">
            <a:spAutoFit/>
          </a:bodyPr>
          <a:lstStyle/>
          <a:p>
            <a:pPr algn="ctr">
              <a:lnSpc>
                <a:spcPts val="4634"/>
              </a:lnSpc>
            </a:pPr>
            <a:r>
              <a:rPr lang="en-US" sz="5452">
                <a:solidFill>
                  <a:srgbClr val="545454"/>
                </a:solidFill>
                <a:latin typeface="Bold Ink"/>
                <a:ea typeface="Bold Ink"/>
                <a:cs typeface="Bold Ink"/>
                <a:sym typeface="Bold Ink"/>
              </a:rPr>
              <a:t>DESAIN PROGRAM</a:t>
            </a:r>
          </a:p>
        </p:txBody>
      </p:sp>
      <p:sp>
        <p:nvSpPr>
          <p:cNvPr name="TextBox 22" id="22"/>
          <p:cNvSpPr txBox="true"/>
          <p:nvPr/>
        </p:nvSpPr>
        <p:spPr>
          <a:xfrm rot="0">
            <a:off x="3309591" y="1959054"/>
            <a:ext cx="4195862" cy="692151"/>
          </a:xfrm>
          <a:prstGeom prst="rect">
            <a:avLst/>
          </a:prstGeom>
        </p:spPr>
        <p:txBody>
          <a:bodyPr anchor="t" rtlCol="false" tIns="0" lIns="0" bIns="0" rIns="0">
            <a:spAutoFit/>
          </a:bodyPr>
          <a:lstStyle/>
          <a:p>
            <a:pPr algn="ctr">
              <a:lnSpc>
                <a:spcPts val="2799"/>
              </a:lnSpc>
            </a:pPr>
            <a:r>
              <a:rPr lang="en-US" sz="1999" b="true">
                <a:solidFill>
                  <a:srgbClr val="545454"/>
                </a:solidFill>
                <a:latin typeface="Open Sans Bold"/>
                <a:ea typeface="Open Sans Bold"/>
                <a:cs typeface="Open Sans Bold"/>
                <a:sym typeface="Open Sans Bold"/>
              </a:rPr>
              <a:t>e. Desain Form Data_pemesanan </a:t>
            </a:r>
          </a:p>
          <a:p>
            <a:pPr algn="ctr">
              <a:lnSpc>
                <a:spcPts val="2799"/>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63849" y="7784323"/>
            <a:ext cx="8132490" cy="4066245"/>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5760647" y="-1537845"/>
            <a:ext cx="8664509" cy="4332254"/>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2345726" y="-1477174"/>
            <a:ext cx="2878425" cy="1863298"/>
            <a:chOff x="0" y="0"/>
            <a:chExt cx="627807" cy="406400"/>
          </a:xfrm>
        </p:grpSpPr>
        <p:sp>
          <p:nvSpPr>
            <p:cNvPr name="Freeform 18" id="18"/>
            <p:cNvSpPr/>
            <p:nvPr/>
          </p:nvSpPr>
          <p:spPr>
            <a:xfrm flipH="false" flipV="false" rot="0">
              <a:off x="0" y="0"/>
              <a:ext cx="627807" cy="406400"/>
            </a:xfrm>
            <a:custGeom>
              <a:avLst/>
              <a:gdLst/>
              <a:ahLst/>
              <a:cxnLst/>
              <a:rect r="r" b="b" t="t" l="l"/>
              <a:pathLst>
                <a:path h="406400" w="627807">
                  <a:moveTo>
                    <a:pt x="424607" y="0"/>
                  </a:moveTo>
                  <a:cubicBezTo>
                    <a:pt x="536832" y="0"/>
                    <a:pt x="627807" y="90976"/>
                    <a:pt x="627807" y="203200"/>
                  </a:cubicBezTo>
                  <a:cubicBezTo>
                    <a:pt x="627807" y="315424"/>
                    <a:pt x="536832" y="406400"/>
                    <a:pt x="42460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627807"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4506359" y="2651204"/>
            <a:ext cx="9275282" cy="5739081"/>
          </a:xfrm>
          <a:custGeom>
            <a:avLst/>
            <a:gdLst/>
            <a:ahLst/>
            <a:cxnLst/>
            <a:rect r="r" b="b" t="t" l="l"/>
            <a:pathLst>
              <a:path h="5739081" w="9275282">
                <a:moveTo>
                  <a:pt x="0" y="0"/>
                </a:moveTo>
                <a:lnTo>
                  <a:pt x="9275282" y="0"/>
                </a:lnTo>
                <a:lnTo>
                  <a:pt x="9275282" y="5739081"/>
                </a:lnTo>
                <a:lnTo>
                  <a:pt x="0" y="5739081"/>
                </a:lnTo>
                <a:lnTo>
                  <a:pt x="0" y="0"/>
                </a:lnTo>
                <a:close/>
              </a:path>
            </a:pathLst>
          </a:custGeom>
          <a:blipFill>
            <a:blip r:embed="rId2"/>
            <a:stretch>
              <a:fillRect l="0" t="0" r="0" b="0"/>
            </a:stretch>
          </a:blipFill>
        </p:spPr>
      </p:sp>
      <p:sp>
        <p:nvSpPr>
          <p:cNvPr name="TextBox 21" id="21"/>
          <p:cNvSpPr txBox="true"/>
          <p:nvPr/>
        </p:nvSpPr>
        <p:spPr>
          <a:xfrm rot="0">
            <a:off x="-26989" y="602053"/>
            <a:ext cx="18341978" cy="651938"/>
          </a:xfrm>
          <a:prstGeom prst="rect">
            <a:avLst/>
          </a:prstGeom>
        </p:spPr>
        <p:txBody>
          <a:bodyPr anchor="t" rtlCol="false" tIns="0" lIns="0" bIns="0" rIns="0">
            <a:spAutoFit/>
          </a:bodyPr>
          <a:lstStyle/>
          <a:p>
            <a:pPr algn="ctr">
              <a:lnSpc>
                <a:spcPts val="4634"/>
              </a:lnSpc>
            </a:pPr>
            <a:r>
              <a:rPr lang="en-US" sz="5452">
                <a:solidFill>
                  <a:srgbClr val="545454"/>
                </a:solidFill>
                <a:latin typeface="Bold Ink"/>
                <a:ea typeface="Bold Ink"/>
                <a:cs typeface="Bold Ink"/>
                <a:sym typeface="Bold Ink"/>
              </a:rPr>
              <a:t>DESAIN PROGRAM</a:t>
            </a:r>
          </a:p>
        </p:txBody>
      </p:sp>
      <p:sp>
        <p:nvSpPr>
          <p:cNvPr name="TextBox 22" id="22"/>
          <p:cNvSpPr txBox="true"/>
          <p:nvPr/>
        </p:nvSpPr>
        <p:spPr>
          <a:xfrm rot="0">
            <a:off x="3659437" y="1959054"/>
            <a:ext cx="3496171" cy="692151"/>
          </a:xfrm>
          <a:prstGeom prst="rect">
            <a:avLst/>
          </a:prstGeom>
        </p:spPr>
        <p:txBody>
          <a:bodyPr anchor="t" rtlCol="false" tIns="0" lIns="0" bIns="0" rIns="0">
            <a:spAutoFit/>
          </a:bodyPr>
          <a:lstStyle/>
          <a:p>
            <a:pPr algn="ctr">
              <a:lnSpc>
                <a:spcPts val="2799"/>
              </a:lnSpc>
            </a:pPr>
            <a:r>
              <a:rPr lang="en-US" sz="1999" b="true">
                <a:solidFill>
                  <a:srgbClr val="545454"/>
                </a:solidFill>
                <a:latin typeface="Open Sans Bold"/>
                <a:ea typeface="Open Sans Bold"/>
                <a:cs typeface="Open Sans Bold"/>
                <a:sym typeface="Open Sans Bold"/>
              </a:rPr>
              <a:t>f. Desain Form Data_kamar </a:t>
            </a:r>
          </a:p>
          <a:p>
            <a:pPr algn="ctr">
              <a:lnSpc>
                <a:spcPts val="2799"/>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63849" y="7784323"/>
            <a:ext cx="8132490" cy="4066245"/>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5621575" y="-1552818"/>
            <a:ext cx="8664509" cy="4332254"/>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2345726" y="-1477174"/>
            <a:ext cx="2878425" cy="1863298"/>
            <a:chOff x="0" y="0"/>
            <a:chExt cx="627807" cy="406400"/>
          </a:xfrm>
        </p:grpSpPr>
        <p:sp>
          <p:nvSpPr>
            <p:cNvPr name="Freeform 18" id="18"/>
            <p:cNvSpPr/>
            <p:nvPr/>
          </p:nvSpPr>
          <p:spPr>
            <a:xfrm flipH="false" flipV="false" rot="0">
              <a:off x="0" y="0"/>
              <a:ext cx="627807" cy="406400"/>
            </a:xfrm>
            <a:custGeom>
              <a:avLst/>
              <a:gdLst/>
              <a:ahLst/>
              <a:cxnLst/>
              <a:rect r="r" b="b" t="t" l="l"/>
              <a:pathLst>
                <a:path h="406400" w="627807">
                  <a:moveTo>
                    <a:pt x="424607" y="0"/>
                  </a:moveTo>
                  <a:cubicBezTo>
                    <a:pt x="536832" y="0"/>
                    <a:pt x="627807" y="90976"/>
                    <a:pt x="627807" y="203200"/>
                  </a:cubicBezTo>
                  <a:cubicBezTo>
                    <a:pt x="627807" y="315424"/>
                    <a:pt x="536832" y="406400"/>
                    <a:pt x="42460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627807"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5061146" y="2566614"/>
            <a:ext cx="8165708" cy="5930346"/>
          </a:xfrm>
          <a:custGeom>
            <a:avLst/>
            <a:gdLst/>
            <a:ahLst/>
            <a:cxnLst/>
            <a:rect r="r" b="b" t="t" l="l"/>
            <a:pathLst>
              <a:path h="5930346" w="8165708">
                <a:moveTo>
                  <a:pt x="0" y="0"/>
                </a:moveTo>
                <a:lnTo>
                  <a:pt x="8165708" y="0"/>
                </a:lnTo>
                <a:lnTo>
                  <a:pt x="8165708" y="5930346"/>
                </a:lnTo>
                <a:lnTo>
                  <a:pt x="0" y="5930346"/>
                </a:lnTo>
                <a:lnTo>
                  <a:pt x="0" y="0"/>
                </a:lnTo>
                <a:close/>
              </a:path>
            </a:pathLst>
          </a:custGeom>
          <a:blipFill>
            <a:blip r:embed="rId2"/>
            <a:stretch>
              <a:fillRect l="0" t="0" r="0" b="0"/>
            </a:stretch>
          </a:blipFill>
        </p:spPr>
      </p:sp>
      <p:sp>
        <p:nvSpPr>
          <p:cNvPr name="TextBox 21" id="21"/>
          <p:cNvSpPr txBox="true"/>
          <p:nvPr/>
        </p:nvSpPr>
        <p:spPr>
          <a:xfrm rot="0">
            <a:off x="-26989" y="602053"/>
            <a:ext cx="18341978" cy="651938"/>
          </a:xfrm>
          <a:prstGeom prst="rect">
            <a:avLst/>
          </a:prstGeom>
        </p:spPr>
        <p:txBody>
          <a:bodyPr anchor="t" rtlCol="false" tIns="0" lIns="0" bIns="0" rIns="0">
            <a:spAutoFit/>
          </a:bodyPr>
          <a:lstStyle/>
          <a:p>
            <a:pPr algn="ctr">
              <a:lnSpc>
                <a:spcPts val="4634"/>
              </a:lnSpc>
            </a:pPr>
            <a:r>
              <a:rPr lang="en-US" sz="5452">
                <a:solidFill>
                  <a:srgbClr val="545454"/>
                </a:solidFill>
                <a:latin typeface="Bold Ink"/>
                <a:ea typeface="Bold Ink"/>
                <a:cs typeface="Bold Ink"/>
                <a:sym typeface="Bold Ink"/>
              </a:rPr>
              <a:t>IREPORT</a:t>
            </a:r>
          </a:p>
        </p:txBody>
      </p:sp>
      <p:sp>
        <p:nvSpPr>
          <p:cNvPr name="TextBox 22" id="22"/>
          <p:cNvSpPr txBox="true"/>
          <p:nvPr/>
        </p:nvSpPr>
        <p:spPr>
          <a:xfrm rot="0">
            <a:off x="4027092" y="1959054"/>
            <a:ext cx="2760861" cy="339726"/>
          </a:xfrm>
          <a:prstGeom prst="rect">
            <a:avLst/>
          </a:prstGeom>
        </p:spPr>
        <p:txBody>
          <a:bodyPr anchor="t" rtlCol="false" tIns="0" lIns="0" bIns="0" rIns="0">
            <a:spAutoFit/>
          </a:bodyPr>
          <a:lstStyle/>
          <a:p>
            <a:pPr algn="ctr" marL="431794" indent="-215897" lvl="1">
              <a:lnSpc>
                <a:spcPts val="2799"/>
              </a:lnSpc>
              <a:buAutoNum type="arabicPeriod" startAt="1"/>
            </a:pPr>
            <a:r>
              <a:rPr lang="en-US" sz="1999">
                <a:solidFill>
                  <a:srgbClr val="545454"/>
                </a:solidFill>
                <a:latin typeface="Open Sans"/>
                <a:ea typeface="Open Sans"/>
                <a:cs typeface="Open Sans"/>
                <a:sym typeface="Open Sans"/>
              </a:rPr>
              <a:t>iReport data_kamar</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63849" y="7784323"/>
            <a:ext cx="8132490" cy="4066245"/>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5621575" y="-1552818"/>
            <a:ext cx="8664509" cy="4332254"/>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2345726" y="-1477174"/>
            <a:ext cx="2878425" cy="1863298"/>
            <a:chOff x="0" y="0"/>
            <a:chExt cx="627807" cy="406400"/>
          </a:xfrm>
        </p:grpSpPr>
        <p:sp>
          <p:nvSpPr>
            <p:cNvPr name="Freeform 18" id="18"/>
            <p:cNvSpPr/>
            <p:nvPr/>
          </p:nvSpPr>
          <p:spPr>
            <a:xfrm flipH="false" flipV="false" rot="0">
              <a:off x="0" y="0"/>
              <a:ext cx="627807" cy="406400"/>
            </a:xfrm>
            <a:custGeom>
              <a:avLst/>
              <a:gdLst/>
              <a:ahLst/>
              <a:cxnLst/>
              <a:rect r="r" b="b" t="t" l="l"/>
              <a:pathLst>
                <a:path h="406400" w="627807">
                  <a:moveTo>
                    <a:pt x="424607" y="0"/>
                  </a:moveTo>
                  <a:cubicBezTo>
                    <a:pt x="536832" y="0"/>
                    <a:pt x="627807" y="90976"/>
                    <a:pt x="627807" y="203200"/>
                  </a:cubicBezTo>
                  <a:cubicBezTo>
                    <a:pt x="627807" y="315424"/>
                    <a:pt x="536832" y="406400"/>
                    <a:pt x="42460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627807"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4765166" y="2569828"/>
            <a:ext cx="8199192" cy="5923917"/>
          </a:xfrm>
          <a:custGeom>
            <a:avLst/>
            <a:gdLst/>
            <a:ahLst/>
            <a:cxnLst/>
            <a:rect r="r" b="b" t="t" l="l"/>
            <a:pathLst>
              <a:path h="5923917" w="8199192">
                <a:moveTo>
                  <a:pt x="0" y="0"/>
                </a:moveTo>
                <a:lnTo>
                  <a:pt x="8199192" y="0"/>
                </a:lnTo>
                <a:lnTo>
                  <a:pt x="8199192" y="5923917"/>
                </a:lnTo>
                <a:lnTo>
                  <a:pt x="0" y="5923917"/>
                </a:lnTo>
                <a:lnTo>
                  <a:pt x="0" y="0"/>
                </a:lnTo>
                <a:close/>
              </a:path>
            </a:pathLst>
          </a:custGeom>
          <a:blipFill>
            <a:blip r:embed="rId2"/>
            <a:stretch>
              <a:fillRect l="0" t="0" r="0" b="0"/>
            </a:stretch>
          </a:blipFill>
        </p:spPr>
      </p:sp>
      <p:sp>
        <p:nvSpPr>
          <p:cNvPr name="TextBox 21" id="21"/>
          <p:cNvSpPr txBox="true"/>
          <p:nvPr/>
        </p:nvSpPr>
        <p:spPr>
          <a:xfrm rot="0">
            <a:off x="-26989" y="602053"/>
            <a:ext cx="18341978" cy="651938"/>
          </a:xfrm>
          <a:prstGeom prst="rect">
            <a:avLst/>
          </a:prstGeom>
        </p:spPr>
        <p:txBody>
          <a:bodyPr anchor="t" rtlCol="false" tIns="0" lIns="0" bIns="0" rIns="0">
            <a:spAutoFit/>
          </a:bodyPr>
          <a:lstStyle/>
          <a:p>
            <a:pPr algn="ctr">
              <a:lnSpc>
                <a:spcPts val="4634"/>
              </a:lnSpc>
            </a:pPr>
            <a:r>
              <a:rPr lang="en-US" sz="5452">
                <a:solidFill>
                  <a:srgbClr val="545454"/>
                </a:solidFill>
                <a:latin typeface="Bold Ink"/>
                <a:ea typeface="Bold Ink"/>
                <a:cs typeface="Bold Ink"/>
                <a:sym typeface="Bold Ink"/>
              </a:rPr>
              <a:t>IREPORT</a:t>
            </a:r>
          </a:p>
        </p:txBody>
      </p:sp>
      <p:sp>
        <p:nvSpPr>
          <p:cNvPr name="TextBox 22" id="22"/>
          <p:cNvSpPr txBox="true"/>
          <p:nvPr/>
        </p:nvSpPr>
        <p:spPr>
          <a:xfrm rot="0">
            <a:off x="3735934" y="1959054"/>
            <a:ext cx="3343176" cy="339726"/>
          </a:xfrm>
          <a:prstGeom prst="rect">
            <a:avLst/>
          </a:prstGeom>
        </p:spPr>
        <p:txBody>
          <a:bodyPr anchor="t" rtlCol="false" tIns="0" lIns="0" bIns="0" rIns="0">
            <a:spAutoFit/>
          </a:bodyPr>
          <a:lstStyle/>
          <a:p>
            <a:pPr algn="ctr" marL="431794" indent="-215897" lvl="1">
              <a:lnSpc>
                <a:spcPts val="2799"/>
              </a:lnSpc>
              <a:buAutoNum type="arabicPeriod" startAt="1"/>
            </a:pPr>
            <a:r>
              <a:rPr lang="en-US" sz="1999">
                <a:solidFill>
                  <a:srgbClr val="545454"/>
                </a:solidFill>
                <a:latin typeface="Open Sans"/>
                <a:ea typeface="Open Sans"/>
                <a:cs typeface="Open Sans"/>
                <a:sym typeface="Open Sans"/>
              </a:rPr>
              <a:t>iReport tingkatan_kamar</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63849" y="7784323"/>
            <a:ext cx="8132490" cy="4066245"/>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5621575" y="-1552818"/>
            <a:ext cx="8664509" cy="4332254"/>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2345726" y="-1477174"/>
            <a:ext cx="2878425" cy="1863298"/>
            <a:chOff x="0" y="0"/>
            <a:chExt cx="627807" cy="406400"/>
          </a:xfrm>
        </p:grpSpPr>
        <p:sp>
          <p:nvSpPr>
            <p:cNvPr name="Freeform 18" id="18"/>
            <p:cNvSpPr/>
            <p:nvPr/>
          </p:nvSpPr>
          <p:spPr>
            <a:xfrm flipH="false" flipV="false" rot="0">
              <a:off x="0" y="0"/>
              <a:ext cx="627807" cy="406400"/>
            </a:xfrm>
            <a:custGeom>
              <a:avLst/>
              <a:gdLst/>
              <a:ahLst/>
              <a:cxnLst/>
              <a:rect r="r" b="b" t="t" l="l"/>
              <a:pathLst>
                <a:path h="406400" w="627807">
                  <a:moveTo>
                    <a:pt x="424607" y="0"/>
                  </a:moveTo>
                  <a:cubicBezTo>
                    <a:pt x="536832" y="0"/>
                    <a:pt x="627807" y="90976"/>
                    <a:pt x="627807" y="203200"/>
                  </a:cubicBezTo>
                  <a:cubicBezTo>
                    <a:pt x="627807" y="315424"/>
                    <a:pt x="536832" y="406400"/>
                    <a:pt x="42460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627807"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5066691" y="2565544"/>
            <a:ext cx="8154618" cy="5932485"/>
          </a:xfrm>
          <a:custGeom>
            <a:avLst/>
            <a:gdLst/>
            <a:ahLst/>
            <a:cxnLst/>
            <a:rect r="r" b="b" t="t" l="l"/>
            <a:pathLst>
              <a:path h="5932485" w="8154618">
                <a:moveTo>
                  <a:pt x="0" y="0"/>
                </a:moveTo>
                <a:lnTo>
                  <a:pt x="8154618" y="0"/>
                </a:lnTo>
                <a:lnTo>
                  <a:pt x="8154618" y="5932485"/>
                </a:lnTo>
                <a:lnTo>
                  <a:pt x="0" y="5932485"/>
                </a:lnTo>
                <a:lnTo>
                  <a:pt x="0" y="0"/>
                </a:lnTo>
                <a:close/>
              </a:path>
            </a:pathLst>
          </a:custGeom>
          <a:blipFill>
            <a:blip r:embed="rId2"/>
            <a:stretch>
              <a:fillRect l="0" t="0" r="0" b="0"/>
            </a:stretch>
          </a:blipFill>
        </p:spPr>
      </p:sp>
      <p:sp>
        <p:nvSpPr>
          <p:cNvPr name="TextBox 21" id="21"/>
          <p:cNvSpPr txBox="true"/>
          <p:nvPr/>
        </p:nvSpPr>
        <p:spPr>
          <a:xfrm rot="0">
            <a:off x="-26989" y="602053"/>
            <a:ext cx="18341978" cy="651938"/>
          </a:xfrm>
          <a:prstGeom prst="rect">
            <a:avLst/>
          </a:prstGeom>
        </p:spPr>
        <p:txBody>
          <a:bodyPr anchor="t" rtlCol="false" tIns="0" lIns="0" bIns="0" rIns="0">
            <a:spAutoFit/>
          </a:bodyPr>
          <a:lstStyle/>
          <a:p>
            <a:pPr algn="ctr">
              <a:lnSpc>
                <a:spcPts val="4634"/>
              </a:lnSpc>
            </a:pPr>
            <a:r>
              <a:rPr lang="en-US" sz="5452">
                <a:solidFill>
                  <a:srgbClr val="545454"/>
                </a:solidFill>
                <a:latin typeface="Bold Ink"/>
                <a:ea typeface="Bold Ink"/>
                <a:cs typeface="Bold Ink"/>
                <a:sym typeface="Bold Ink"/>
              </a:rPr>
              <a:t>IREPORT</a:t>
            </a:r>
          </a:p>
        </p:txBody>
      </p:sp>
      <p:sp>
        <p:nvSpPr>
          <p:cNvPr name="TextBox 22" id="22"/>
          <p:cNvSpPr txBox="true"/>
          <p:nvPr/>
        </p:nvSpPr>
        <p:spPr>
          <a:xfrm rot="0">
            <a:off x="3735934" y="1959054"/>
            <a:ext cx="3343176" cy="339726"/>
          </a:xfrm>
          <a:prstGeom prst="rect">
            <a:avLst/>
          </a:prstGeom>
        </p:spPr>
        <p:txBody>
          <a:bodyPr anchor="t" rtlCol="false" tIns="0" lIns="0" bIns="0" rIns="0">
            <a:spAutoFit/>
          </a:bodyPr>
          <a:lstStyle/>
          <a:p>
            <a:pPr algn="ctr" marL="431794" indent="-215897" lvl="1">
              <a:lnSpc>
                <a:spcPts val="2799"/>
              </a:lnSpc>
              <a:buAutoNum type="arabicPeriod" startAt="1"/>
            </a:pPr>
            <a:r>
              <a:rPr lang="en-US" sz="1999">
                <a:solidFill>
                  <a:srgbClr val="545454"/>
                </a:solidFill>
                <a:latin typeface="Open Sans"/>
                <a:ea typeface="Open Sans"/>
                <a:cs typeface="Open Sans"/>
                <a:sym typeface="Open Sans"/>
              </a:rPr>
              <a:t>iReport tingkatan_kamar</a:t>
            </a: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656933" y="8057769"/>
            <a:ext cx="7326214" cy="4066245"/>
            <a:chOff x="0" y="0"/>
            <a:chExt cx="732217" cy="406400"/>
          </a:xfrm>
        </p:grpSpPr>
        <p:sp>
          <p:nvSpPr>
            <p:cNvPr name="Freeform 3" id="3"/>
            <p:cNvSpPr/>
            <p:nvPr/>
          </p:nvSpPr>
          <p:spPr>
            <a:xfrm flipH="false" flipV="false" rot="0">
              <a:off x="0" y="0"/>
              <a:ext cx="732217" cy="406400"/>
            </a:xfrm>
            <a:custGeom>
              <a:avLst/>
              <a:gdLst/>
              <a:ahLst/>
              <a:cxnLst/>
              <a:rect r="r" b="b" t="t" l="l"/>
              <a:pathLst>
                <a:path h="406400" w="732217">
                  <a:moveTo>
                    <a:pt x="529017" y="0"/>
                  </a:moveTo>
                  <a:cubicBezTo>
                    <a:pt x="641241" y="0"/>
                    <a:pt x="732217" y="90976"/>
                    <a:pt x="732217" y="203200"/>
                  </a:cubicBezTo>
                  <a:cubicBezTo>
                    <a:pt x="732217" y="315424"/>
                    <a:pt x="641241" y="406400"/>
                    <a:pt x="529017"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732217"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5754084" y="-2017845"/>
            <a:ext cx="8664509" cy="4332254"/>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1610027" y="-1189519"/>
            <a:ext cx="3726595" cy="1863298"/>
            <a:chOff x="0" y="0"/>
            <a:chExt cx="812800" cy="406400"/>
          </a:xfrm>
        </p:grpSpPr>
        <p:sp>
          <p:nvSpPr>
            <p:cNvPr name="Freeform 18" id="18"/>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249047" y="1519530"/>
            <a:ext cx="10540477" cy="475409"/>
          </a:xfrm>
          <a:prstGeom prst="rect">
            <a:avLst/>
          </a:prstGeom>
        </p:spPr>
        <p:txBody>
          <a:bodyPr anchor="t" rtlCol="false" tIns="0" lIns="0" bIns="0" rIns="0">
            <a:spAutoFit/>
          </a:bodyPr>
          <a:lstStyle/>
          <a:p>
            <a:pPr algn="ctr">
              <a:lnSpc>
                <a:spcPts val="3444"/>
              </a:lnSpc>
            </a:pPr>
            <a:r>
              <a:rPr lang="en-US" sz="4052">
                <a:solidFill>
                  <a:srgbClr val="545454"/>
                </a:solidFill>
                <a:latin typeface="Bold Ink"/>
                <a:ea typeface="Bold Ink"/>
                <a:cs typeface="Bold Ink"/>
                <a:sym typeface="Bold Ink"/>
              </a:rPr>
              <a:t>KESIMPULAN</a:t>
            </a:r>
          </a:p>
        </p:txBody>
      </p:sp>
      <p:sp>
        <p:nvSpPr>
          <p:cNvPr name="TextBox 21" id="21"/>
          <p:cNvSpPr txBox="true"/>
          <p:nvPr/>
        </p:nvSpPr>
        <p:spPr>
          <a:xfrm rot="0">
            <a:off x="1472259" y="2562478"/>
            <a:ext cx="7888374" cy="5073015"/>
          </a:xfrm>
          <a:prstGeom prst="rect">
            <a:avLst/>
          </a:prstGeom>
        </p:spPr>
        <p:txBody>
          <a:bodyPr anchor="t" rtlCol="false" tIns="0" lIns="0" bIns="0" rIns="0">
            <a:spAutoFit/>
          </a:bodyPr>
          <a:lstStyle/>
          <a:p>
            <a:pPr algn="l">
              <a:lnSpc>
                <a:spcPts val="3359"/>
              </a:lnSpc>
            </a:pPr>
            <a:r>
              <a:rPr lang="en-US" sz="2400">
                <a:solidFill>
                  <a:srgbClr val="61654D"/>
                </a:solidFill>
                <a:latin typeface="Akzidenz-Grotesk"/>
                <a:ea typeface="Akzidenz-Grotesk"/>
                <a:cs typeface="Akzidenz-Grotesk"/>
                <a:sym typeface="Akzidenz-Grotesk"/>
              </a:rPr>
              <a:t> Kesimpulan dari materi ini adalah bahwa aplikasi desktop berbasis Java menggunakan NetBeans dapat menjadi solusi praktis untuk pengelolaan barang dan pemesanan, terutama bagi usaha kecil dan menengah. Dengan penerapan konsep OOP, desain modular, dan antarmuka grafis yang sederhana, aplikasi ini membantu meningkatkan efisiensi dan akurasi dalam pengelolaan data. Selain itu, pengintegrasian fitur-fitur tambahan, seperti penyimpanan  </a:t>
            </a:r>
          </a:p>
          <a:p>
            <a:pPr algn="l">
              <a:lnSpc>
                <a:spcPts val="3359"/>
              </a:lnSpc>
            </a:pPr>
            <a:r>
              <a:rPr lang="en-US" sz="2400">
                <a:solidFill>
                  <a:srgbClr val="61654D"/>
                </a:solidFill>
                <a:latin typeface="Akzidenz-Grotesk"/>
                <a:ea typeface="Akzidenz-Grotesk"/>
                <a:cs typeface="Akzidenz-Grotesk"/>
                <a:sym typeface="Akzidenz-Grotesk"/>
              </a:rPr>
              <a:t>permanen menggunakan database dan validasi input, dapat lebih memaksimalkan </a:t>
            </a:r>
          </a:p>
          <a:p>
            <a:pPr algn="l">
              <a:lnSpc>
                <a:spcPts val="3359"/>
              </a:lnSpc>
            </a:pPr>
            <a:r>
              <a:rPr lang="en-US" sz="2400">
                <a:solidFill>
                  <a:srgbClr val="61654D"/>
                </a:solidFill>
                <a:latin typeface="Akzidenz-Grotesk"/>
                <a:ea typeface="Akzidenz-Grotesk"/>
                <a:cs typeface="Akzidenz-Grotesk"/>
                <a:sym typeface="Akzidenz-Grotesk"/>
              </a:rPr>
              <a:t>fungsionalitas dan keandalan aplikasi.  </a:t>
            </a:r>
          </a:p>
          <a:p>
            <a:pPr algn="l">
              <a:lnSpc>
                <a:spcPts val="3359"/>
              </a:lnSpc>
              <a:spcBef>
                <a:spcPct val="0"/>
              </a:spcBef>
            </a:pPr>
          </a:p>
        </p:txBody>
      </p:sp>
      <p:sp>
        <p:nvSpPr>
          <p:cNvPr name="TextBox 22" id="22"/>
          <p:cNvSpPr txBox="true"/>
          <p:nvPr/>
        </p:nvSpPr>
        <p:spPr>
          <a:xfrm rot="0">
            <a:off x="7928724" y="1519530"/>
            <a:ext cx="10540477" cy="475409"/>
          </a:xfrm>
          <a:prstGeom prst="rect">
            <a:avLst/>
          </a:prstGeom>
        </p:spPr>
        <p:txBody>
          <a:bodyPr anchor="t" rtlCol="false" tIns="0" lIns="0" bIns="0" rIns="0">
            <a:spAutoFit/>
          </a:bodyPr>
          <a:lstStyle/>
          <a:p>
            <a:pPr algn="ctr">
              <a:lnSpc>
                <a:spcPts val="3444"/>
              </a:lnSpc>
            </a:pPr>
            <a:r>
              <a:rPr lang="en-US" sz="4052">
                <a:solidFill>
                  <a:srgbClr val="545454"/>
                </a:solidFill>
                <a:latin typeface="Bold Ink"/>
                <a:ea typeface="Bold Ink"/>
                <a:cs typeface="Bold Ink"/>
                <a:sym typeface="Bold Ink"/>
              </a:rPr>
              <a:t>SARAN </a:t>
            </a:r>
          </a:p>
        </p:txBody>
      </p:sp>
      <p:sp>
        <p:nvSpPr>
          <p:cNvPr name="TextBox 23" id="23"/>
          <p:cNvSpPr txBox="true"/>
          <p:nvPr/>
        </p:nvSpPr>
        <p:spPr>
          <a:xfrm rot="0">
            <a:off x="9922420" y="2562478"/>
            <a:ext cx="6860546" cy="4653915"/>
          </a:xfrm>
          <a:prstGeom prst="rect">
            <a:avLst/>
          </a:prstGeom>
        </p:spPr>
        <p:txBody>
          <a:bodyPr anchor="t" rtlCol="false" tIns="0" lIns="0" bIns="0" rIns="0">
            <a:spAutoFit/>
          </a:bodyPr>
          <a:lstStyle/>
          <a:p>
            <a:pPr algn="l">
              <a:lnSpc>
                <a:spcPts val="3359"/>
              </a:lnSpc>
              <a:spcBef>
                <a:spcPct val="0"/>
              </a:spcBef>
            </a:pPr>
            <a:r>
              <a:rPr lang="en-US" sz="2400">
                <a:solidFill>
                  <a:srgbClr val="61654D"/>
                </a:solidFill>
                <a:latin typeface="Akzidenz-Grotesk"/>
                <a:ea typeface="Akzidenz-Grotesk"/>
                <a:cs typeface="Akzidenz-Grotesk"/>
                <a:sym typeface="Akzidenz-Grotesk"/>
              </a:rPr>
              <a:t>Untuk meningkatkan materi ini, disarankan untuk melengkapi aplikasi dengan penyimpanan permanen menggunakan database, seperti MySQL, agar data dapat dikelola secara lebih andal dan terstruktur. Selain itu, tambahkan validasi input yang efektif pada form untuk mengurangi potensi kesalahan pengguna. Implementasikan fitur CRUD yang lengkap pada modul admin agar pengelolaan data lebih fleksibel. Terakhir, gunakan alat seperti iReport untuk menghasilkan laporan transaksi yang lebih profesional dan informatif.    </a:t>
            </a: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DEDEDE"/>
        </a:solidFill>
      </p:bgPr>
    </p:bg>
    <p:spTree>
      <p:nvGrpSpPr>
        <p:cNvPr id="1" name=""/>
        <p:cNvGrpSpPr/>
        <p:nvPr/>
      </p:nvGrpSpPr>
      <p:grpSpPr>
        <a:xfrm>
          <a:off x="0" y="0"/>
          <a:ext cx="0" cy="0"/>
          <a:chOff x="0" y="0"/>
          <a:chExt cx="0" cy="0"/>
        </a:xfrm>
      </p:grpSpPr>
      <p:grpSp>
        <p:nvGrpSpPr>
          <p:cNvPr name="Group 2" id="2"/>
          <p:cNvGrpSpPr/>
          <p:nvPr/>
        </p:nvGrpSpPr>
        <p:grpSpPr>
          <a:xfrm rot="-2562626">
            <a:off x="-4763849" y="7784323"/>
            <a:ext cx="8132490" cy="4066245"/>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4" id="4"/>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562626">
            <a:off x="-1091559" y="10289015"/>
            <a:ext cx="4019797" cy="2009899"/>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7" id="7"/>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562626">
            <a:off x="15760647" y="-1537845"/>
            <a:ext cx="8664509" cy="4332254"/>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p:spPr>
        </p:sp>
        <p:sp>
          <p:nvSpPr>
            <p:cNvPr name="TextBox 10" id="10"/>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562626">
            <a:off x="16327816" y="-2285619"/>
            <a:ext cx="4282768" cy="2141384"/>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2562626">
            <a:off x="13101516" y="9777072"/>
            <a:ext cx="3710089" cy="1855044"/>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2562626">
            <a:off x="1610027" y="-1189519"/>
            <a:ext cx="3726595" cy="1863298"/>
            <a:chOff x="0" y="0"/>
            <a:chExt cx="812800" cy="406400"/>
          </a:xfrm>
        </p:grpSpPr>
        <p:sp>
          <p:nvSpPr>
            <p:cNvPr name="Freeform 18" id="18"/>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57150" cap="sq">
              <a:solidFill>
                <a:srgbClr val="545454"/>
              </a:solidFill>
              <a:prstDash val="solid"/>
              <a:miter/>
            </a:ln>
          </p:spPr>
        </p:sp>
        <p:sp>
          <p:nvSpPr>
            <p:cNvPr name="TextBox 19" id="19"/>
            <p:cNvSpPr txBox="true"/>
            <p:nvPr/>
          </p:nvSpPr>
          <p:spPr>
            <a:xfrm>
              <a:off x="0" y="-38100"/>
              <a:ext cx="812800"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3029631" y="3523388"/>
            <a:ext cx="12228738" cy="3980077"/>
          </a:xfrm>
          <a:prstGeom prst="rect">
            <a:avLst/>
          </a:prstGeom>
        </p:spPr>
        <p:txBody>
          <a:bodyPr anchor="t" rtlCol="false" tIns="0" lIns="0" bIns="0" rIns="0">
            <a:spAutoFit/>
          </a:bodyPr>
          <a:lstStyle/>
          <a:p>
            <a:pPr algn="ctr">
              <a:lnSpc>
                <a:spcPts val="14909"/>
              </a:lnSpc>
            </a:pPr>
            <a:r>
              <a:rPr lang="en-US" sz="17540">
                <a:solidFill>
                  <a:srgbClr val="545454"/>
                </a:solidFill>
                <a:latin typeface="Bold Ink"/>
                <a:ea typeface="Bold Ink"/>
                <a:cs typeface="Bold Ink"/>
                <a:sym typeface="Bold Ink"/>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DAGcERtMAQ8</dc:identifier>
  <dcterms:modified xsi:type="dcterms:W3CDTF">2011-08-01T06:04:30Z</dcterms:modified>
  <cp:revision>1</cp:revision>
  <dc:title>anggota kelompok</dc:title>
</cp:coreProperties>
</file>